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547" autoAdjust="0"/>
  </p:normalViewPr>
  <p:slideViewPr>
    <p:cSldViewPr>
      <p:cViewPr varScale="1">
        <p:scale>
          <a:sx n="156" d="100"/>
          <a:sy n="156" d="100"/>
        </p:scale>
        <p:origin x="99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B83DD5D1-BC1E-4420-8F45-2F9FDDB239D5}" type="datetimeFigureOut">
              <a:rPr lang="en-IN" smtClean="0"/>
              <a:t>14-10-2026</a:t>
            </a:fld>
            <a:endParaRPr lang="en-IN"/>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8FD499ED-CCA3-4FF8-A55B-D2A87833103D}" type="slidenum">
              <a:rPr lang="en-IN" smtClean="0"/>
              <a:t>‹#›</a:t>
            </a:fld>
            <a:endParaRPr lang="en-IN"/>
          </a:p>
        </p:txBody>
      </p:sp>
    </p:spTree>
    <p:extLst>
      <p:ext uri="{BB962C8B-B14F-4D97-AF65-F5344CB8AC3E}">
        <p14:creationId xmlns:p14="http://schemas.microsoft.com/office/powerpoint/2010/main" val="4255776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7" name="Holder 7"/>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5" name="Holder 5"/>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4" name="Holder 4"/>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9293" y="198244"/>
            <a:ext cx="1115060" cy="244475"/>
          </a:xfrm>
          <a:prstGeom prst="rect">
            <a:avLst/>
          </a:prstGeom>
        </p:spPr>
        <p:txBody>
          <a:bodyPr wrap="square" lIns="0" tIns="0" rIns="0" bIns="0">
            <a:spAutoFit/>
          </a:bodyPr>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body" idx="1"/>
          </p:nvPr>
        </p:nvSpPr>
        <p:spPr>
          <a:xfrm>
            <a:off x="239293" y="596822"/>
            <a:ext cx="5273675" cy="765175"/>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a:xfrm>
            <a:off x="5234978" y="3092784"/>
            <a:ext cx="400050" cy="120650"/>
          </a:xfrm>
          <a:prstGeom prst="rect">
            <a:avLst/>
          </a:prstGeom>
        </p:spPr>
        <p:txBody>
          <a:bodyPr wrap="square" lIns="0" tIns="0" rIns="0" bIns="0">
            <a:spAutoFit/>
          </a:bodyPr>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yushh1302/A3-PS013-TC123"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mailto:tkarshnarwade2006@gmail.com" TargetMode="External"/><Relationship Id="rId4" Type="http://schemas.openxmlformats.org/officeDocument/2006/relationships/hyperlink" Target="mailto:personal-id@some.mail.com" TargetMode="Externa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hyperlink" Target="https://csrc.nist.gov/pubs/sp/800/86/final" TargetMode="External"/><Relationship Id="rId3" Type="http://schemas.openxmlformats.org/officeDocument/2006/relationships/slide" Target="slide4.xml"/><Relationship Id="rId7" Type="http://schemas.openxmlformats.org/officeDocument/2006/relationships/hyperlink" Target="https://www.rfc-editor.org/info/rfc9110/" TargetMode="Externa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hyperlink" Target="https://www.rfc-editor.org/info/rfc8259/" TargetMode="External"/><Relationship Id="rId5" Type="http://schemas.openxmlformats.org/officeDocument/2006/relationships/hyperlink" Target="https://www.rfc-editor.org/info/rfc5424/" TargetMode="External"/><Relationship Id="rId4" Type="http://schemas.openxmlformats.org/officeDocument/2006/relationships/hyperlink" Target="https://www.rfc-editor.org/info/rfc3339/" TargetMode="External"/><Relationship Id="rId9" Type="http://schemas.openxmlformats.org/officeDocument/2006/relationships/hyperlink" Target="https://csrc.nist.gov/pubs/fips/180-4/upd1/final" TargetMode="Externa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hyperlink" Target="https://csrc.nist.gov/pubs/sp/800/86/final" TargetMode="External"/><Relationship Id="rId7" Type="http://schemas.openxmlformats.org/officeDocument/2006/relationships/hyperlink" Target="https://csrc.nist.gov/pubs/fips/180-4/upd1/final" TargetMode="External"/><Relationship Id="rId2" Type="http://schemas.openxmlformats.org/officeDocument/2006/relationships/slide" Target="slide10.xml"/><Relationship Id="rId1" Type="http://schemas.openxmlformats.org/officeDocument/2006/relationships/slideLayout" Target="../slideLayouts/slideLayout2.xml"/><Relationship Id="rId6" Type="http://schemas.openxmlformats.org/officeDocument/2006/relationships/hyperlink" Target="https://www.rfc-editor.org/rfc/rfc3339" TargetMode="External"/><Relationship Id="rId5" Type="http://schemas.openxmlformats.org/officeDocument/2006/relationships/hyperlink" Target="https://www.rfc-editor.org/rfc/rfc5424" TargetMode="External"/><Relationship Id="rId4" Type="http://schemas.openxmlformats.org/officeDocument/2006/relationships/hyperlink" Target="https://csrc.nist.gov/pubs/sp/800/92/fina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1993" y="252004"/>
            <a:ext cx="508223" cy="503988"/>
          </a:xfrm>
          <a:prstGeom prst="rect">
            <a:avLst/>
          </a:prstGeom>
        </p:spPr>
      </p:pic>
      <p:sp>
        <p:nvSpPr>
          <p:cNvPr id="3" name="object 3" descr="$PPTXTitle"/>
          <p:cNvSpPr txBox="1">
            <a:spLocks noGrp="1"/>
          </p:cNvSpPr>
          <p:nvPr>
            <p:ph type="title"/>
          </p:nvPr>
        </p:nvSpPr>
        <p:spPr>
          <a:xfrm>
            <a:off x="239293" y="1200733"/>
            <a:ext cx="4429125" cy="644407"/>
          </a:xfrm>
          <a:prstGeom prst="rect">
            <a:avLst/>
          </a:prstGeom>
        </p:spPr>
        <p:txBody>
          <a:bodyPr vert="horz" wrap="square" lIns="0" tIns="99695" rIns="0" bIns="0" rtlCol="0">
            <a:spAutoFit/>
          </a:bodyPr>
          <a:lstStyle/>
          <a:p>
            <a:pPr marL="12700">
              <a:lnSpc>
                <a:spcPct val="100000"/>
              </a:lnSpc>
              <a:spcBef>
                <a:spcPts val="785"/>
              </a:spcBef>
            </a:pPr>
            <a:r>
              <a:rPr lang="en-IN" sz="2000" dirty="0">
                <a:latin typeface="Times New Roman" panose="02020603050405020304" pitchFamily="18" charset="0"/>
                <a:cs typeface="Times New Roman" panose="02020603050405020304" pitchFamily="18" charset="0"/>
                <a:hlinkClick r:id="rId3"/>
              </a:rPr>
              <a:t>A3-PS013-TC123</a:t>
            </a:r>
            <a:endParaRPr lang="en-IN" sz="2000" dirty="0">
              <a:latin typeface="Times New Roman" panose="02020603050405020304" pitchFamily="18" charset="0"/>
              <a:cs typeface="Times New Roman" panose="02020603050405020304" pitchFamily="18" charset="0"/>
            </a:endParaRPr>
          </a:p>
          <a:p>
            <a:pPr marL="12700">
              <a:lnSpc>
                <a:spcPct val="100000"/>
              </a:lnSpc>
              <a:spcBef>
                <a:spcPts val="385"/>
              </a:spcBef>
            </a:pPr>
            <a:r>
              <a:rPr lang="en-IN" sz="1200" dirty="0">
                <a:solidFill>
                  <a:schemeClr val="tx1"/>
                </a:solidFill>
                <a:latin typeface="Times New Roman" panose="02020603050405020304" pitchFamily="18" charset="0"/>
                <a:cs typeface="Times New Roman" panose="02020603050405020304" pitchFamily="18" charset="0"/>
              </a:rPr>
              <a:t>Incident Timeline and Evidence Collection for Small Teams</a:t>
            </a: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239292" y="2132387"/>
            <a:ext cx="1653007" cy="871391"/>
          </a:xfrm>
          <a:prstGeom prst="rect">
            <a:avLst/>
          </a:prstGeom>
        </p:spPr>
        <p:txBody>
          <a:bodyPr vert="horz" wrap="square" lIns="0" tIns="32384" rIns="0" bIns="0" rtlCol="0">
            <a:spAutoFit/>
          </a:bodyPr>
          <a:lstStyle/>
          <a:p>
            <a:pPr marL="12700">
              <a:lnSpc>
                <a:spcPct val="100000"/>
              </a:lnSpc>
              <a:spcBef>
                <a:spcPts val="254"/>
              </a:spcBef>
            </a:pPr>
            <a:r>
              <a:rPr lang="en-IN" sz="1000" b="1" spc="-100" dirty="0">
                <a:latin typeface="Times New Roman" panose="02020603050405020304" pitchFamily="18" charset="0"/>
                <a:cs typeface="Times New Roman" panose="02020603050405020304" pitchFamily="18" charset="0"/>
              </a:rPr>
              <a:t>Utkarsh Narwade</a:t>
            </a:r>
            <a:endParaRPr sz="1000" dirty="0">
              <a:latin typeface="Times New Roman" panose="02020603050405020304" pitchFamily="18" charset="0"/>
              <a:cs typeface="Times New Roman" panose="02020603050405020304" pitchFamily="18" charset="0"/>
            </a:endParaRPr>
          </a:p>
          <a:p>
            <a:pPr marL="12700">
              <a:lnSpc>
                <a:spcPct val="100000"/>
              </a:lnSpc>
              <a:spcBef>
                <a:spcPts val="155"/>
              </a:spcBef>
            </a:pPr>
            <a:r>
              <a:rPr lang="en-IN" sz="1000" b="1" spc="-65" dirty="0">
                <a:latin typeface="Times New Roman" panose="02020603050405020304" pitchFamily="18" charset="0"/>
                <a:cs typeface="Times New Roman" panose="02020603050405020304" pitchFamily="18" charset="0"/>
                <a:hlinkClick r:id="rId4"/>
              </a:rPr>
              <a:t>u</a:t>
            </a:r>
            <a:r>
              <a:rPr lang="en-IN" sz="1000" b="1" spc="-65" dirty="0">
                <a:latin typeface="Times New Roman" panose="02020603050405020304" pitchFamily="18" charset="0"/>
                <a:cs typeface="Times New Roman" panose="02020603050405020304" pitchFamily="18" charset="0"/>
                <a:hlinkClick r:id="rId5"/>
              </a:rPr>
              <a:t>tkarshnarwade2006@gmail</a:t>
            </a:r>
            <a:r>
              <a:rPr sz="1000" b="1" spc="-65" dirty="0">
                <a:latin typeface="Times New Roman" panose="02020603050405020304" pitchFamily="18" charset="0"/>
                <a:cs typeface="Times New Roman" panose="02020603050405020304" pitchFamily="18" charset="0"/>
                <a:hlinkClick r:id="rId5"/>
              </a:rPr>
              <a:t>.com</a:t>
            </a:r>
            <a:endParaRPr sz="1000" dirty="0">
              <a:latin typeface="Times New Roman" panose="02020603050405020304" pitchFamily="18" charset="0"/>
              <a:cs typeface="Times New Roman" panose="02020603050405020304" pitchFamily="18" charset="0"/>
            </a:endParaRPr>
          </a:p>
          <a:p>
            <a:pPr marL="12700">
              <a:lnSpc>
                <a:spcPct val="100000"/>
              </a:lnSpc>
              <a:spcBef>
                <a:spcPts val="994"/>
              </a:spcBef>
            </a:pPr>
            <a:r>
              <a:rPr sz="800" dirty="0">
                <a:latin typeface="Times New Roman" panose="02020603050405020304" pitchFamily="18" charset="0"/>
                <a:cs typeface="Times New Roman" panose="02020603050405020304" pitchFamily="18" charset="0"/>
              </a:rPr>
              <a:t>AIORI</a:t>
            </a:r>
            <a:r>
              <a:rPr sz="800" spc="50" dirty="0">
                <a:latin typeface="Times New Roman" panose="02020603050405020304" pitchFamily="18" charset="0"/>
                <a:cs typeface="Times New Roman" panose="02020603050405020304" pitchFamily="18" charset="0"/>
              </a:rPr>
              <a:t> </a:t>
            </a:r>
            <a:r>
              <a:rPr sz="800" spc="-10" dirty="0">
                <a:latin typeface="Times New Roman" panose="02020603050405020304" pitchFamily="18" charset="0"/>
                <a:cs typeface="Times New Roman" panose="02020603050405020304" pitchFamily="18" charset="0"/>
              </a:rPr>
              <a:t>Hackathon</a:t>
            </a:r>
            <a:r>
              <a:rPr sz="800" spc="55" dirty="0">
                <a:latin typeface="Times New Roman" panose="02020603050405020304" pitchFamily="18" charset="0"/>
                <a:cs typeface="Times New Roman" panose="02020603050405020304" pitchFamily="18" charset="0"/>
              </a:rPr>
              <a:t> </a:t>
            </a:r>
            <a:r>
              <a:rPr sz="800" spc="-50" dirty="0">
                <a:latin typeface="Times New Roman" panose="02020603050405020304" pitchFamily="18" charset="0"/>
                <a:cs typeface="Times New Roman" panose="02020603050405020304" pitchFamily="18" charset="0"/>
              </a:rPr>
              <a:t>3</a:t>
            </a:r>
            <a:endParaRPr sz="800" dirty="0">
              <a:latin typeface="Times New Roman" panose="02020603050405020304" pitchFamily="18" charset="0"/>
              <a:cs typeface="Times New Roman" panose="02020603050405020304" pitchFamily="18" charset="0"/>
            </a:endParaRPr>
          </a:p>
          <a:p>
            <a:pPr marL="12700">
              <a:lnSpc>
                <a:spcPct val="100000"/>
              </a:lnSpc>
              <a:spcBef>
                <a:spcPts val="935"/>
              </a:spcBef>
            </a:pPr>
            <a:r>
              <a:rPr sz="900" spc="-35" dirty="0">
                <a:latin typeface="Times New Roman" panose="02020603050405020304" pitchFamily="18" charset="0"/>
                <a:cs typeface="Times New Roman" panose="02020603050405020304" pitchFamily="18" charset="0"/>
              </a:rPr>
              <a:t>October</a:t>
            </a:r>
            <a:r>
              <a:rPr sz="900" spc="-10" dirty="0">
                <a:latin typeface="Times New Roman" panose="02020603050405020304" pitchFamily="18" charset="0"/>
                <a:cs typeface="Times New Roman" panose="02020603050405020304" pitchFamily="18" charset="0"/>
              </a:rPr>
              <a:t> </a:t>
            </a:r>
            <a:r>
              <a:rPr lang="en-IN" sz="900" spc="-10" dirty="0">
                <a:latin typeface="Times New Roman" panose="02020603050405020304" pitchFamily="18" charset="0"/>
                <a:cs typeface="Times New Roman" panose="02020603050405020304" pitchFamily="18" charset="0"/>
              </a:rPr>
              <a:t>5</a:t>
            </a:r>
            <a:r>
              <a:rPr sz="900" dirty="0">
                <a:latin typeface="Times New Roman" panose="02020603050405020304" pitchFamily="18" charset="0"/>
                <a:cs typeface="Times New Roman" panose="02020603050405020304" pitchFamily="18" charset="0"/>
              </a:rPr>
              <a:t>,</a:t>
            </a:r>
            <a:r>
              <a:rPr sz="900" spc="-5" dirty="0">
                <a:latin typeface="Times New Roman" panose="02020603050405020304" pitchFamily="18" charset="0"/>
                <a:cs typeface="Times New Roman" panose="02020603050405020304" pitchFamily="18" charset="0"/>
              </a:rPr>
              <a:t> </a:t>
            </a:r>
            <a:r>
              <a:rPr sz="900" spc="-20" dirty="0">
                <a:latin typeface="Times New Roman" panose="02020603050405020304" pitchFamily="18" charset="0"/>
                <a:cs typeface="Times New Roman" panose="02020603050405020304" pitchFamily="18" charset="0"/>
              </a:rPr>
              <a:t>2026</a:t>
            </a:r>
            <a:endParaRPr sz="900" dirty="0">
              <a:latin typeface="Times New Roman" panose="02020603050405020304" pitchFamily="18" charset="0"/>
              <a:cs typeface="Times New Roman" panose="02020603050405020304" pitchFamily="18"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dirty="0">
              <a:latin typeface="Century Gothic"/>
              <a:cs typeface="Century Gothic"/>
            </a:endParaRPr>
          </a:p>
        </p:txBody>
      </p:sp>
      <p:sp>
        <p:nvSpPr>
          <p:cNvPr id="3" name="object 3"/>
          <p:cNvSpPr txBox="1"/>
          <p:nvPr/>
        </p:nvSpPr>
        <p:spPr>
          <a:xfrm>
            <a:off x="2947016" y="16997"/>
            <a:ext cx="33337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Abstract</a:t>
            </a:r>
            <a:endParaRPr sz="600" dirty="0">
              <a:latin typeface="Century Gothic"/>
              <a:cs typeface="Century Gothic"/>
            </a:endParaRPr>
          </a:p>
        </p:txBody>
      </p:sp>
      <p:sp>
        <p:nvSpPr>
          <p:cNvPr id="4" name="object 4"/>
          <p:cNvSpPr txBox="1"/>
          <p:nvPr/>
        </p:nvSpPr>
        <p:spPr>
          <a:xfrm>
            <a:off x="239293" y="198244"/>
            <a:ext cx="1610360" cy="232756"/>
          </a:xfrm>
          <a:prstGeom prst="rect">
            <a:avLst/>
          </a:prstGeom>
        </p:spPr>
        <p:txBody>
          <a:bodyPr vert="horz" wrap="square" lIns="0" tIns="17145" rIns="0" bIns="0" rtlCol="0">
            <a:spAutoFit/>
          </a:bodyPr>
          <a:lstStyle/>
          <a:p>
            <a:pPr marL="12700">
              <a:lnSpc>
                <a:spcPct val="100000"/>
              </a:lnSpc>
              <a:spcBef>
                <a:spcPts val="135"/>
              </a:spcBef>
            </a:pPr>
            <a:r>
              <a:rPr sz="1400" b="1" spc="-80" dirty="0">
                <a:solidFill>
                  <a:srgbClr val="0000DC"/>
                </a:solidFill>
                <a:latin typeface="Times New Roman" panose="02020603050405020304" pitchFamily="18" charset="0"/>
                <a:cs typeface="Times New Roman" panose="02020603050405020304" pitchFamily="18" charset="0"/>
              </a:rPr>
              <a:t>Problem</a:t>
            </a:r>
            <a:r>
              <a:rPr sz="1400" b="1" spc="30" dirty="0">
                <a:solidFill>
                  <a:srgbClr val="0000DC"/>
                </a:solidFill>
                <a:latin typeface="Times New Roman" panose="02020603050405020304" pitchFamily="18" charset="0"/>
                <a:cs typeface="Times New Roman" panose="02020603050405020304" pitchFamily="18" charset="0"/>
              </a:rPr>
              <a:t> </a:t>
            </a:r>
            <a:r>
              <a:rPr sz="1400" b="1" spc="-55" dirty="0">
                <a:solidFill>
                  <a:srgbClr val="0000DC"/>
                </a:solidFill>
                <a:latin typeface="Times New Roman" panose="02020603050405020304" pitchFamily="18" charset="0"/>
                <a:cs typeface="Times New Roman" panose="02020603050405020304" pitchFamily="18" charset="0"/>
              </a:rPr>
              <a:t>Description</a:t>
            </a:r>
            <a:endParaRPr sz="1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239293" y="3050083"/>
            <a:ext cx="1957807" cy="166712"/>
          </a:xfrm>
          <a:prstGeom prst="rect">
            <a:avLst/>
          </a:prstGeom>
        </p:spPr>
        <p:txBody>
          <a:bodyPr vert="horz" wrap="square" lIns="0" tIns="0" rIns="0" bIns="0" rtlCol="0">
            <a:spAutoFit/>
          </a:bodyPr>
          <a:lstStyle/>
          <a:p>
            <a:pPr marL="12700">
              <a:lnSpc>
                <a:spcPts val="1315"/>
              </a:lnSpc>
            </a:pPr>
            <a:r>
              <a:rPr lang="en-IN" sz="600" spc="-60" dirty="0">
                <a:solidFill>
                  <a:srgbClr val="0000DC"/>
                </a:solidFill>
                <a:latin typeface="Century Gothic"/>
                <a:cs typeface="Times New Roman" panose="02020603050405020304" pitchFamily="18" charset="0"/>
              </a:rPr>
              <a:t>Utkarsh Narwade</a:t>
            </a:r>
            <a:r>
              <a:rPr sz="600" spc="10" dirty="0">
                <a:solidFill>
                  <a:srgbClr val="0000DC"/>
                </a:solidFill>
                <a:latin typeface="Century Gothic"/>
                <a:cs typeface="Times New Roman" panose="02020603050405020304" pitchFamily="18" charset="0"/>
              </a:rPr>
              <a:t> </a:t>
            </a:r>
            <a:r>
              <a:rPr sz="2100" i="1" baseline="-7936" dirty="0">
                <a:solidFill>
                  <a:srgbClr val="0000DC"/>
                </a:solidFill>
                <a:latin typeface="Arial Narrow"/>
                <a:cs typeface="Arial Narrow"/>
              </a:rPr>
              <a:t>·</a:t>
            </a:r>
            <a:r>
              <a:rPr lang="en-IN" sz="2100" i="1" spc="-202" baseline="-7936" dirty="0">
                <a:solidFill>
                  <a:srgbClr val="0000DC"/>
                </a:solidFill>
                <a:latin typeface="Arial Narrow"/>
                <a:cs typeface="Arial Narrow"/>
              </a:rPr>
              <a:t> </a:t>
            </a:r>
            <a:r>
              <a:rPr lang="en-IN" sz="600" b="1" dirty="0">
                <a:solidFill>
                  <a:srgbClr val="0000DC"/>
                </a:solidFill>
                <a:latin typeface="Century Gothic"/>
                <a:cs typeface="Century Gothic"/>
              </a:rPr>
              <a:t>A3-</a:t>
            </a:r>
            <a:r>
              <a:rPr lang="en-IN" sz="600" b="1" spc="-10" dirty="0">
                <a:solidFill>
                  <a:srgbClr val="0000DC"/>
                </a:solidFill>
                <a:latin typeface="Century Gothic"/>
                <a:cs typeface="Century Gothic"/>
              </a:rPr>
              <a:t>PS013-</a:t>
            </a:r>
            <a:r>
              <a:rPr lang="en-IN" sz="600" b="1" dirty="0">
                <a:solidFill>
                  <a:srgbClr val="0000DC"/>
                </a:solidFill>
                <a:latin typeface="Century Gothic"/>
                <a:cs typeface="Century Gothic"/>
              </a:rPr>
              <a:t>TC123</a:t>
            </a:r>
            <a:r>
              <a:rPr lang="en-IN"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2</a:t>
            </a:fld>
            <a:r>
              <a:rPr spc="5" dirty="0"/>
              <a:t> </a:t>
            </a:r>
            <a:r>
              <a:rPr dirty="0"/>
              <a:t>/</a:t>
            </a:r>
            <a:r>
              <a:rPr spc="10" dirty="0"/>
              <a:t> </a:t>
            </a:r>
            <a:r>
              <a:rPr spc="-25" dirty="0"/>
              <a:t>11</a:t>
            </a:r>
          </a:p>
        </p:txBody>
      </p:sp>
      <p:sp>
        <p:nvSpPr>
          <p:cNvPr id="10" name="TextBox 9">
            <a:extLst>
              <a:ext uri="{FF2B5EF4-FFF2-40B4-BE49-F238E27FC236}">
                <a16:creationId xmlns:a16="http://schemas.microsoft.com/office/drawing/2014/main" id="{FB1E01FB-07D5-FBCE-30B0-3C98EFAFCADF}"/>
              </a:ext>
            </a:extLst>
          </p:cNvPr>
          <p:cNvSpPr txBox="1"/>
          <p:nvPr/>
        </p:nvSpPr>
        <p:spPr>
          <a:xfrm>
            <a:off x="259727" y="652929"/>
            <a:ext cx="5175276" cy="2308324"/>
          </a:xfrm>
          <a:prstGeom prst="rect">
            <a:avLst/>
          </a:prstGeom>
          <a:noFill/>
        </p:spPr>
        <p:txBody>
          <a:bodyPr wrap="square" rtlCol="0">
            <a:spAutoFit/>
          </a:bodyPr>
          <a:lstStyle/>
          <a:p>
            <a:pPr marL="171450" lvl="0" indent="-171450" algn="just">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Fragmented Logs:</a:t>
            </a:r>
            <a:r>
              <a:rPr lang="en-IN" sz="1200" dirty="0">
                <a:latin typeface="Times New Roman" panose="02020603050405020304" pitchFamily="18" charset="0"/>
                <a:cs typeface="Times New Roman" panose="02020603050405020304" pitchFamily="18" charset="0"/>
              </a:rPr>
              <a:t> Evidence is scattered across multiple systems and sources.</a:t>
            </a:r>
          </a:p>
          <a:p>
            <a:pPr marL="171450" lvl="0" indent="-171450" algn="just">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Format Diversity:</a:t>
            </a:r>
            <a:r>
              <a:rPr lang="en-IN" sz="1200" dirty="0">
                <a:latin typeface="Times New Roman" panose="02020603050405020304" pitchFamily="18" charset="0"/>
                <a:cs typeface="Times New Roman" panose="02020603050405020304" pitchFamily="18" charset="0"/>
              </a:rPr>
              <a:t> Incompatible log formats complicate analysis.</a:t>
            </a:r>
          </a:p>
          <a:p>
            <a:pPr marL="171450" lvl="0" indent="-171450" algn="just">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Clock Skew:</a:t>
            </a:r>
            <a:r>
              <a:rPr lang="en-IN" sz="1200" dirty="0">
                <a:latin typeface="Times New Roman" panose="02020603050405020304" pitchFamily="18" charset="0"/>
                <a:cs typeface="Times New Roman" panose="02020603050405020304" pitchFamily="18" charset="0"/>
              </a:rPr>
              <a:t> Time differences hinder accurate event sequencing.</a:t>
            </a:r>
          </a:p>
          <a:p>
            <a:pPr marL="171450" lvl="0" indent="-171450" algn="just">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Evidence Integrity:</a:t>
            </a:r>
            <a:r>
              <a:rPr lang="en-IN" sz="1200" dirty="0">
                <a:latin typeface="Times New Roman" panose="02020603050405020304" pitchFamily="18" charset="0"/>
                <a:cs typeface="Times New Roman" panose="02020603050405020304" pitchFamily="18" charset="0"/>
              </a:rPr>
              <a:t> Original logs must remain verifiable and unaltered.</a:t>
            </a:r>
          </a:p>
          <a:p>
            <a:pPr marL="171450" lvl="0" indent="-171450" algn="just">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Data Gaps:</a:t>
            </a:r>
            <a:r>
              <a:rPr lang="en-IN" sz="1200" dirty="0">
                <a:latin typeface="Times New Roman" panose="02020603050405020304" pitchFamily="18" charset="0"/>
                <a:cs typeface="Times New Roman" panose="02020603050405020304" pitchFamily="18" charset="0"/>
              </a:rPr>
              <a:t> Missing timestamps and parsing failures create uncertainty.</a:t>
            </a:r>
          </a:p>
          <a:p>
            <a:pPr marL="171450" lvl="0" indent="-171450" algn="just">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Manual Analysis:</a:t>
            </a:r>
            <a:r>
              <a:rPr lang="en-IN" sz="1200" dirty="0">
                <a:latin typeface="Times New Roman" panose="02020603050405020304" pitchFamily="18" charset="0"/>
                <a:cs typeface="Times New Roman" panose="02020603050405020304" pitchFamily="18" charset="0"/>
              </a:rPr>
              <a:t> Timeline reconstruction is time-consuming and error-prone.</a:t>
            </a:r>
          </a:p>
          <a:p>
            <a:pPr marL="171450" lvl="0" indent="-171450" algn="just">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IN" sz="1200" b="1" dirty="0">
                <a:latin typeface="Times New Roman" panose="02020603050405020304" pitchFamily="18" charset="0"/>
                <a:cs typeface="Times New Roman" panose="02020603050405020304" pitchFamily="18" charset="0"/>
              </a:rPr>
              <a:t>Core Problem:</a:t>
            </a:r>
            <a:r>
              <a:rPr lang="en-IN" sz="1200" dirty="0">
                <a:latin typeface="Times New Roman" panose="02020603050405020304" pitchFamily="18" charset="0"/>
                <a:cs typeface="Times New Roman" panose="02020603050405020304" pitchFamily="18" charset="0"/>
              </a:rPr>
              <a:t> Lack of a unified solution for evidence preservation, timestamp normalization, clock-skew analysis, and reliable incident timeline reconstruction.</a:t>
            </a:r>
          </a:p>
          <a:p>
            <a:pPr marL="171450" lvl="0" indent="-171450" algn="just">
              <a:buFont typeface="Arial" panose="020B0604020202020204" pitchFamily="34" charset="0"/>
              <a:buChar char="•"/>
            </a:pPr>
            <a:endParaRPr lang="en-IN" sz="1200"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467359"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Background</a:t>
            </a:r>
            <a:endParaRPr sz="600">
              <a:latin typeface="Century Gothic"/>
              <a:cs typeface="Century Gothic"/>
            </a:endParaRPr>
          </a:p>
        </p:txBody>
      </p:sp>
      <p:sp>
        <p:nvSpPr>
          <p:cNvPr id="4" name="object 4"/>
          <p:cNvSpPr txBox="1"/>
          <p:nvPr/>
        </p:nvSpPr>
        <p:spPr>
          <a:xfrm>
            <a:off x="239293" y="198244"/>
            <a:ext cx="944880" cy="232756"/>
          </a:xfrm>
          <a:prstGeom prst="rect">
            <a:avLst/>
          </a:prstGeom>
        </p:spPr>
        <p:txBody>
          <a:bodyPr vert="horz" wrap="square" lIns="0" tIns="17145" rIns="0" bIns="0" rtlCol="0">
            <a:spAutoFit/>
          </a:bodyPr>
          <a:lstStyle/>
          <a:p>
            <a:pPr marL="12700">
              <a:lnSpc>
                <a:spcPct val="100000"/>
              </a:lnSpc>
              <a:spcBef>
                <a:spcPts val="135"/>
              </a:spcBef>
            </a:pPr>
            <a:r>
              <a:rPr sz="1400" b="1" spc="-110" dirty="0">
                <a:solidFill>
                  <a:srgbClr val="0000DC"/>
                </a:solidFill>
                <a:latin typeface="Times New Roman" panose="02020603050405020304" pitchFamily="18" charset="0"/>
                <a:cs typeface="Times New Roman" panose="02020603050405020304" pitchFamily="18" charset="0"/>
              </a:rPr>
              <a:t>Background</a:t>
            </a:r>
            <a:endParaRPr sz="14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39293" y="880959"/>
            <a:ext cx="5281295" cy="1491242"/>
          </a:xfrm>
          <a:prstGeom prst="rect">
            <a:avLst/>
          </a:prstGeom>
        </p:spPr>
        <p:txBody>
          <a:bodyPr vert="horz" wrap="square" lIns="0" tIns="6985" rIns="0" bIns="0" rtlCol="0">
            <a:spAutoFit/>
          </a:bodyPr>
          <a:lstStyle/>
          <a:p>
            <a:pPr marL="12700" marR="5080" algn="just">
              <a:lnSpc>
                <a:spcPct val="100000"/>
              </a:lnSpc>
              <a:spcBef>
                <a:spcPts val="55"/>
              </a:spcBef>
            </a:pPr>
            <a:r>
              <a:rPr lang="en-IN" sz="1200" dirty="0">
                <a:latin typeface="Times New Roman" panose="02020603050405020304" pitchFamily="18" charset="0"/>
                <a:cs typeface="Times New Roman" panose="02020603050405020304" pitchFamily="18" charset="0"/>
              </a:rPr>
              <a:t>Digital forensic investigations rely on system logs to reconstruct cybersecurity incidents and establish event sequences. However, logs from different sources often use heterogeneous formats, inconsistent time zones, and unsynchronized system clocks, complicating accurate event correlation. Manual analysis further increases investigation time and the risk of errors. A unified approach combining evidence preservation, timestamp normalization, and clock-skew estimation can improve timeline reconstruction while identifying missing data and uncertainties .</a:t>
            </a:r>
          </a:p>
          <a:p>
            <a:pPr marL="12700" marR="5080">
              <a:lnSpc>
                <a:spcPct val="102600"/>
              </a:lnSpc>
              <a:spcBef>
                <a:spcPts val="55"/>
              </a:spcBef>
            </a:pPr>
            <a:endParaRPr sz="12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239293" y="3050083"/>
            <a:ext cx="1881607"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3</a:t>
            </a:fld>
            <a:r>
              <a:rPr spc="5" dirty="0"/>
              <a:t> </a:t>
            </a:r>
            <a:r>
              <a:rPr dirty="0"/>
              <a:t>/</a:t>
            </a:r>
            <a:r>
              <a:rPr spc="10" dirty="0"/>
              <a:t> </a:t>
            </a:r>
            <a:r>
              <a:rPr spc="-25" dirty="0"/>
              <a:t>11</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92710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Literature</a:t>
            </a:r>
            <a:r>
              <a:rPr sz="600" b="1" spc="30" dirty="0">
                <a:solidFill>
                  <a:srgbClr val="0000DC"/>
                </a:solidFill>
                <a:latin typeface="Century Gothic"/>
                <a:cs typeface="Century Gothic"/>
                <a:hlinkClick r:id="rId3" action="ppaction://hlinksldjump"/>
              </a:rPr>
              <a:t> </a:t>
            </a:r>
            <a:r>
              <a:rPr sz="600" b="1" spc="114" dirty="0">
                <a:solidFill>
                  <a:srgbClr val="0000DC"/>
                </a:solidFill>
                <a:latin typeface="Century Gothic"/>
                <a:cs typeface="Century Gothic"/>
                <a:hlinkClick r:id="rId3" action="ppaction://hlinksldjump"/>
              </a:rPr>
              <a:t>&amp;</a:t>
            </a:r>
            <a:r>
              <a:rPr sz="600" b="1" spc="3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RFC</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Review</a:t>
            </a:r>
            <a:endParaRPr sz="600">
              <a:latin typeface="Century Gothic"/>
              <a:cs typeface="Century Gothic"/>
            </a:endParaRPr>
          </a:p>
        </p:txBody>
      </p:sp>
      <p:sp>
        <p:nvSpPr>
          <p:cNvPr id="4" name="object 4"/>
          <p:cNvSpPr txBox="1"/>
          <p:nvPr/>
        </p:nvSpPr>
        <p:spPr>
          <a:xfrm>
            <a:off x="239293" y="198244"/>
            <a:ext cx="1936750" cy="232756"/>
          </a:xfrm>
          <a:prstGeom prst="rect">
            <a:avLst/>
          </a:prstGeom>
        </p:spPr>
        <p:txBody>
          <a:bodyPr vert="horz" wrap="square" lIns="0" tIns="17145" rIns="0" bIns="0" rtlCol="0">
            <a:spAutoFit/>
          </a:bodyPr>
          <a:lstStyle/>
          <a:p>
            <a:pPr marL="12700">
              <a:lnSpc>
                <a:spcPct val="100000"/>
              </a:lnSpc>
              <a:spcBef>
                <a:spcPts val="135"/>
              </a:spcBef>
            </a:pPr>
            <a:r>
              <a:rPr sz="1400" b="1" spc="-20" dirty="0">
                <a:solidFill>
                  <a:srgbClr val="0000DC"/>
                </a:solidFill>
                <a:latin typeface="Times New Roman" panose="02020603050405020304" pitchFamily="18" charset="0"/>
                <a:cs typeface="Times New Roman" panose="02020603050405020304" pitchFamily="18" charset="0"/>
              </a:rPr>
              <a:t>Literature</a:t>
            </a:r>
            <a:r>
              <a:rPr sz="1400" b="1" spc="-30" dirty="0">
                <a:solidFill>
                  <a:srgbClr val="0000DC"/>
                </a:solidFill>
                <a:latin typeface="Times New Roman" panose="02020603050405020304" pitchFamily="18" charset="0"/>
                <a:cs typeface="Times New Roman" panose="02020603050405020304" pitchFamily="18" charset="0"/>
              </a:rPr>
              <a:t> </a:t>
            </a:r>
            <a:r>
              <a:rPr sz="1400" b="1" spc="204" dirty="0">
                <a:solidFill>
                  <a:srgbClr val="0000DC"/>
                </a:solidFill>
                <a:latin typeface="Times New Roman" panose="02020603050405020304" pitchFamily="18" charset="0"/>
                <a:cs typeface="Times New Roman" panose="02020603050405020304" pitchFamily="18" charset="0"/>
              </a:rPr>
              <a:t>&amp;</a:t>
            </a:r>
            <a:r>
              <a:rPr sz="1400" b="1" spc="-30" dirty="0">
                <a:solidFill>
                  <a:srgbClr val="0000DC"/>
                </a:solidFill>
                <a:latin typeface="Times New Roman" panose="02020603050405020304" pitchFamily="18" charset="0"/>
                <a:cs typeface="Times New Roman" panose="02020603050405020304" pitchFamily="18" charset="0"/>
              </a:rPr>
              <a:t> </a:t>
            </a:r>
            <a:r>
              <a:rPr sz="1400" b="1" spc="-70" dirty="0">
                <a:solidFill>
                  <a:srgbClr val="0000DC"/>
                </a:solidFill>
                <a:latin typeface="Times New Roman" panose="02020603050405020304" pitchFamily="18" charset="0"/>
                <a:cs typeface="Times New Roman" panose="02020603050405020304" pitchFamily="18" charset="0"/>
              </a:rPr>
              <a:t>RFC</a:t>
            </a:r>
            <a:r>
              <a:rPr sz="1400" b="1" spc="-25" dirty="0">
                <a:solidFill>
                  <a:srgbClr val="0000DC"/>
                </a:solidFill>
                <a:latin typeface="Times New Roman" panose="02020603050405020304" pitchFamily="18" charset="0"/>
                <a:cs typeface="Times New Roman" panose="02020603050405020304" pitchFamily="18" charset="0"/>
              </a:rPr>
              <a:t> </a:t>
            </a:r>
            <a:r>
              <a:rPr sz="1400" b="1" spc="-80" dirty="0">
                <a:solidFill>
                  <a:srgbClr val="0000DC"/>
                </a:solidFill>
                <a:latin typeface="Times New Roman" panose="02020603050405020304" pitchFamily="18" charset="0"/>
                <a:cs typeface="Times New Roman" panose="02020603050405020304" pitchFamily="18" charset="0"/>
              </a:rPr>
              <a:t>Review</a:t>
            </a:r>
            <a:endParaRPr sz="1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239293" y="3050083"/>
            <a:ext cx="1881607"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4</a:t>
            </a:fld>
            <a:r>
              <a:rPr spc="5" dirty="0"/>
              <a:t> </a:t>
            </a:r>
            <a:r>
              <a:rPr dirty="0"/>
              <a:t>/</a:t>
            </a:r>
            <a:r>
              <a:rPr spc="10" dirty="0"/>
              <a:t> </a:t>
            </a:r>
            <a:r>
              <a:rPr spc="-25" dirty="0"/>
              <a:t>11</a:t>
            </a:r>
          </a:p>
        </p:txBody>
      </p:sp>
      <p:sp>
        <p:nvSpPr>
          <p:cNvPr id="12" name="TextBox 11">
            <a:extLst>
              <a:ext uri="{FF2B5EF4-FFF2-40B4-BE49-F238E27FC236}">
                <a16:creationId xmlns:a16="http://schemas.microsoft.com/office/drawing/2014/main" id="{856BD968-E387-581D-CD79-AA65DBC78742}"/>
              </a:ext>
            </a:extLst>
          </p:cNvPr>
          <p:cNvSpPr txBox="1"/>
          <p:nvPr/>
        </p:nvSpPr>
        <p:spPr>
          <a:xfrm>
            <a:off x="93294" y="708025"/>
            <a:ext cx="5562600" cy="2162515"/>
          </a:xfrm>
          <a:prstGeom prst="rect">
            <a:avLst/>
          </a:prstGeom>
          <a:noFill/>
        </p:spPr>
        <p:txBody>
          <a:bodyPr wrap="square" rtlCol="0">
            <a:spAutoFit/>
          </a:bodyPr>
          <a:lstStyle/>
          <a:p>
            <a:pPr marL="171450" lvl="0" indent="-171450" algn="just">
              <a:lnSpc>
                <a:spcPct val="150000"/>
              </a:lnSpc>
              <a:buFont typeface="Wingdings" panose="05000000000000000000" pitchFamily="2" charset="2"/>
              <a:buChar char="§"/>
            </a:pPr>
            <a:r>
              <a:rPr lang="en-IN" sz="1000" b="1" dirty="0">
                <a:latin typeface="Times New Roman" panose="02020603050405020304" pitchFamily="18" charset="0"/>
                <a:cs typeface="Times New Roman" panose="02020603050405020304" pitchFamily="18" charset="0"/>
              </a:rPr>
              <a:t>RFC 3339: Date and Time on the Internet: Timestamps </a:t>
            </a:r>
            <a:r>
              <a:rPr lang="en-IN" sz="1000" b="1" u="sng" dirty="0">
                <a:latin typeface="Times New Roman" panose="02020603050405020304" pitchFamily="18" charset="0"/>
                <a:cs typeface="Times New Roman" panose="02020603050405020304" pitchFamily="18" charset="0"/>
                <a:hlinkClick r:id="rId4"/>
              </a:rPr>
              <a:t>https://www.rfc-editor.org/info/rfc3339/</a:t>
            </a:r>
            <a:endParaRPr lang="en-IN" sz="1000" dirty="0">
              <a:latin typeface="Times New Roman" panose="02020603050405020304" pitchFamily="18" charset="0"/>
              <a:cs typeface="Times New Roman" panose="02020603050405020304" pitchFamily="18" charset="0"/>
            </a:endParaRPr>
          </a:p>
          <a:p>
            <a:pPr marL="171450" lvl="0" indent="-171450" algn="just">
              <a:lnSpc>
                <a:spcPct val="150000"/>
              </a:lnSpc>
              <a:buFont typeface="Wingdings" panose="05000000000000000000" pitchFamily="2" charset="2"/>
              <a:buChar char="§"/>
            </a:pPr>
            <a:r>
              <a:rPr lang="en-IN" sz="1000" b="1" dirty="0">
                <a:latin typeface="Times New Roman" panose="02020603050405020304" pitchFamily="18" charset="0"/>
                <a:cs typeface="Times New Roman" panose="02020603050405020304" pitchFamily="18" charset="0"/>
              </a:rPr>
              <a:t>RFC 5424: Syslog Protocol </a:t>
            </a:r>
            <a:r>
              <a:rPr lang="en-IN" sz="1000" u="sng" dirty="0">
                <a:latin typeface="Times New Roman" panose="02020603050405020304" pitchFamily="18" charset="0"/>
                <a:cs typeface="Times New Roman" panose="02020603050405020304" pitchFamily="18" charset="0"/>
                <a:hlinkClick r:id="rId5"/>
              </a:rPr>
              <a:t>https://www.rfc-editor.org/info/rfc5424/</a:t>
            </a:r>
            <a:endParaRPr lang="en-IN" sz="1000" dirty="0">
              <a:latin typeface="Times New Roman" panose="02020603050405020304" pitchFamily="18" charset="0"/>
              <a:cs typeface="Times New Roman" panose="02020603050405020304" pitchFamily="18" charset="0"/>
            </a:endParaRPr>
          </a:p>
          <a:p>
            <a:pPr marL="171450" lvl="0" indent="-171450" algn="just">
              <a:lnSpc>
                <a:spcPct val="150000"/>
              </a:lnSpc>
              <a:buFont typeface="Wingdings" panose="05000000000000000000" pitchFamily="2" charset="2"/>
              <a:buChar char="§"/>
            </a:pPr>
            <a:r>
              <a:rPr lang="en-IN" sz="1000" b="1" dirty="0">
                <a:latin typeface="Times New Roman" panose="02020603050405020304" pitchFamily="18" charset="0"/>
                <a:cs typeface="Times New Roman" panose="02020603050405020304" pitchFamily="18" charset="0"/>
              </a:rPr>
              <a:t>RFC 8259: JSON Data Interchange Format </a:t>
            </a:r>
            <a:r>
              <a:rPr lang="en-IN" sz="1000" b="1" u="sng" dirty="0">
                <a:latin typeface="Times New Roman" panose="02020603050405020304" pitchFamily="18" charset="0"/>
                <a:cs typeface="Times New Roman" panose="02020603050405020304" pitchFamily="18" charset="0"/>
                <a:hlinkClick r:id="rId6"/>
              </a:rPr>
              <a:t>https://www.rfc-editor.org/info/rfc8259/</a:t>
            </a:r>
            <a:endParaRPr lang="en-IN" sz="1000" dirty="0">
              <a:latin typeface="Times New Roman" panose="02020603050405020304" pitchFamily="18" charset="0"/>
              <a:cs typeface="Times New Roman" panose="02020603050405020304" pitchFamily="18" charset="0"/>
            </a:endParaRPr>
          </a:p>
          <a:p>
            <a:pPr marL="171450" lvl="0" indent="-171450" algn="just">
              <a:lnSpc>
                <a:spcPct val="150000"/>
              </a:lnSpc>
              <a:buFont typeface="Wingdings" panose="05000000000000000000" pitchFamily="2" charset="2"/>
              <a:buChar char="§"/>
            </a:pPr>
            <a:r>
              <a:rPr lang="en-IN" sz="1000" b="1" dirty="0">
                <a:latin typeface="Times New Roman" panose="02020603050405020304" pitchFamily="18" charset="0"/>
                <a:cs typeface="Times New Roman" panose="02020603050405020304" pitchFamily="18" charset="0"/>
              </a:rPr>
              <a:t>RFC 9110: HTTP Semantics </a:t>
            </a:r>
            <a:r>
              <a:rPr lang="en-IN" sz="1000" b="1" u="sng" dirty="0">
                <a:latin typeface="Times New Roman" panose="02020603050405020304" pitchFamily="18" charset="0"/>
                <a:cs typeface="Times New Roman" panose="02020603050405020304" pitchFamily="18" charset="0"/>
                <a:hlinkClick r:id="rId7"/>
              </a:rPr>
              <a:t>https://www.rfc-editor.org/info/rfc9110/</a:t>
            </a:r>
            <a:endParaRPr lang="en-IN" sz="1000" dirty="0">
              <a:latin typeface="Times New Roman" panose="02020603050405020304" pitchFamily="18" charset="0"/>
              <a:cs typeface="Times New Roman" panose="02020603050405020304" pitchFamily="18" charset="0"/>
            </a:endParaRPr>
          </a:p>
          <a:p>
            <a:pPr marL="171450" lvl="0" indent="-171450" algn="just">
              <a:lnSpc>
                <a:spcPct val="150000"/>
              </a:lnSpc>
              <a:buFont typeface="Wingdings" panose="05000000000000000000" pitchFamily="2" charset="2"/>
              <a:buChar char="§"/>
            </a:pPr>
            <a:r>
              <a:rPr lang="en-IN" sz="1000" b="1" dirty="0">
                <a:latin typeface="Times New Roman" panose="02020603050405020304" pitchFamily="18" charset="0"/>
                <a:cs typeface="Times New Roman" panose="02020603050405020304" pitchFamily="18" charset="0"/>
              </a:rPr>
              <a:t>NIST SP 800-86: Guide to Integrating Forensic Techniques into Incident Response </a:t>
            </a:r>
            <a:r>
              <a:rPr lang="en-IN" sz="1000" b="1" u="sng" dirty="0">
                <a:latin typeface="Times New Roman" panose="02020603050405020304" pitchFamily="18" charset="0"/>
                <a:cs typeface="Times New Roman" panose="02020603050405020304" pitchFamily="18" charset="0"/>
                <a:hlinkClick r:id="rId8"/>
              </a:rPr>
              <a:t>https://csrc.nist.gov/pubs/sp/800/86/final</a:t>
            </a:r>
            <a:endParaRPr lang="en-IN" sz="1000" dirty="0">
              <a:latin typeface="Times New Roman" panose="02020603050405020304" pitchFamily="18" charset="0"/>
              <a:cs typeface="Times New Roman" panose="02020603050405020304" pitchFamily="18" charset="0"/>
            </a:endParaRPr>
          </a:p>
          <a:p>
            <a:pPr marL="171450" lvl="0" indent="-171450" algn="just">
              <a:lnSpc>
                <a:spcPct val="150000"/>
              </a:lnSpc>
              <a:buFont typeface="Wingdings" panose="05000000000000000000" pitchFamily="2" charset="2"/>
              <a:buChar char="§"/>
            </a:pPr>
            <a:r>
              <a:rPr lang="en-IN" sz="1000" b="1" dirty="0">
                <a:latin typeface="Times New Roman" panose="02020603050405020304" pitchFamily="18" charset="0"/>
                <a:cs typeface="Times New Roman" panose="02020603050405020304" pitchFamily="18" charset="0"/>
              </a:rPr>
              <a:t>NIST FIPS 180-4: </a:t>
            </a:r>
            <a:r>
              <a:rPr lang="en-IN" sz="1000" b="1" u="sng" dirty="0">
                <a:latin typeface="Times New Roman" panose="02020603050405020304" pitchFamily="18" charset="0"/>
                <a:cs typeface="Times New Roman" panose="02020603050405020304" pitchFamily="18" charset="0"/>
                <a:hlinkClick r:id="rId9"/>
              </a:rPr>
              <a:t>Secure Hash Standard</a:t>
            </a:r>
            <a:endParaRPr lang="en-IN" sz="1000" dirty="0">
              <a:latin typeface="Times New Roman" panose="02020603050405020304" pitchFamily="18" charset="0"/>
              <a:cs typeface="Times New Roman" panose="02020603050405020304" pitchFamily="18" charset="0"/>
            </a:endParaRPr>
          </a:p>
          <a:p>
            <a:pPr>
              <a:lnSpc>
                <a:spcPct val="150000"/>
              </a:lnSpc>
            </a:pPr>
            <a:r>
              <a:rPr lang="en-IN" sz="1000" b="1" dirty="0">
                <a:latin typeface="Times New Roman" panose="02020603050405020304" pitchFamily="18" charset="0"/>
                <a:cs typeface="Times New Roman" panose="02020603050405020304" pitchFamily="18" charset="0"/>
              </a:rPr>
              <a:t> </a:t>
            </a:r>
            <a:endParaRPr lang="en-IN" sz="1000" dirty="0">
              <a:latin typeface="Times New Roman" panose="02020603050405020304" pitchFamily="18" charset="0"/>
              <a:cs typeface="Times New Roman" panose="02020603050405020304" pitchFamily="18" charset="0"/>
            </a:endParaRPr>
          </a:p>
          <a:p>
            <a:pPr>
              <a:lnSpc>
                <a:spcPct val="150000"/>
              </a:lnSpc>
            </a:pPr>
            <a:endParaRPr lang="en-IN" sz="1100" dirty="0">
              <a:latin typeface="Times New Roman" panose="02020603050405020304" pitchFamily="18" charset="0"/>
              <a:cs typeface="Times New Roman" panose="02020603050405020304" pitchFamily="18" charset="0"/>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70675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Proposed</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Solution</a:t>
            </a:r>
            <a:endParaRPr sz="600">
              <a:latin typeface="Century Gothic"/>
              <a:cs typeface="Century Gothic"/>
            </a:endParaRPr>
          </a:p>
        </p:txBody>
      </p:sp>
      <p:sp>
        <p:nvSpPr>
          <p:cNvPr id="4" name="object 4"/>
          <p:cNvSpPr txBox="1"/>
          <p:nvPr/>
        </p:nvSpPr>
        <p:spPr>
          <a:xfrm>
            <a:off x="239293" y="198244"/>
            <a:ext cx="1452245" cy="232756"/>
          </a:xfrm>
          <a:prstGeom prst="rect">
            <a:avLst/>
          </a:prstGeom>
        </p:spPr>
        <p:txBody>
          <a:bodyPr vert="horz" wrap="square" lIns="0" tIns="17145" rIns="0" bIns="0" rtlCol="0">
            <a:spAutoFit/>
          </a:bodyPr>
          <a:lstStyle/>
          <a:p>
            <a:pPr marL="12700">
              <a:lnSpc>
                <a:spcPct val="100000"/>
              </a:lnSpc>
              <a:spcBef>
                <a:spcPts val="135"/>
              </a:spcBef>
            </a:pPr>
            <a:r>
              <a:rPr sz="1400" b="1" spc="-100" dirty="0">
                <a:solidFill>
                  <a:srgbClr val="0000DC"/>
                </a:solidFill>
                <a:latin typeface="Times New Roman" panose="02020603050405020304" pitchFamily="18" charset="0"/>
                <a:cs typeface="Times New Roman" panose="02020603050405020304" pitchFamily="18" charset="0"/>
              </a:rPr>
              <a:t>Proposed</a:t>
            </a:r>
            <a:r>
              <a:rPr sz="1400" b="1" spc="25" dirty="0">
                <a:solidFill>
                  <a:srgbClr val="0000DC"/>
                </a:solidFill>
                <a:latin typeface="Times New Roman" panose="02020603050405020304" pitchFamily="18" charset="0"/>
                <a:cs typeface="Times New Roman" panose="02020603050405020304" pitchFamily="18" charset="0"/>
              </a:rPr>
              <a:t> </a:t>
            </a:r>
            <a:r>
              <a:rPr sz="1400" b="1" spc="-10" dirty="0">
                <a:solidFill>
                  <a:srgbClr val="0000DC"/>
                </a:solidFill>
                <a:latin typeface="Times New Roman" panose="02020603050405020304" pitchFamily="18" charset="0"/>
                <a:cs typeface="Times New Roman" panose="02020603050405020304" pitchFamily="18" charset="0"/>
              </a:rPr>
              <a:t>Solution</a:t>
            </a:r>
            <a:endParaRPr sz="14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32910" y="631825"/>
            <a:ext cx="5386807" cy="1858201"/>
          </a:xfrm>
          <a:prstGeom prst="rect">
            <a:avLst/>
          </a:prstGeom>
        </p:spPr>
        <p:txBody>
          <a:bodyPr vert="horz" wrap="square" lIns="0" tIns="11430" rIns="0" bIns="0" rtlCol="0">
            <a:spAutoFit/>
          </a:bodyPr>
          <a:lstStyle/>
          <a:p>
            <a:pPr lvl="0" algn="just"/>
            <a:r>
              <a:rPr lang="en-IN" sz="1000" dirty="0">
                <a:latin typeface="Times New Roman" panose="02020603050405020304" pitchFamily="18" charset="0"/>
                <a:cs typeface="Times New Roman" panose="02020603050405020304" pitchFamily="18" charset="0"/>
              </a:rPr>
              <a:t>Develop a lightweight, modular Python-based digital forensics tool to reconstruct incident timelines from fragmented system logs.</a:t>
            </a:r>
          </a:p>
          <a:p>
            <a:pPr lvl="0" algn="just"/>
            <a:r>
              <a:rPr lang="en-IN" sz="1000" dirty="0">
                <a:latin typeface="Times New Roman" panose="02020603050405020304" pitchFamily="18" charset="0"/>
                <a:cs typeface="Times New Roman" panose="02020603050405020304" pitchFamily="18" charset="0"/>
              </a:rPr>
              <a:t>Support multiple log formats, including Linux Syslog/auth.log, Nginx access logs, and JSON Lines (JSONL), through format-specific parsers.</a:t>
            </a:r>
          </a:p>
          <a:p>
            <a:pPr lvl="0" algn="just"/>
            <a:r>
              <a:rPr lang="en-IN" sz="1000" dirty="0">
                <a:latin typeface="Times New Roman" panose="02020603050405020304" pitchFamily="18" charset="0"/>
                <a:cs typeface="Times New Roman" panose="02020603050405020304" pitchFamily="18" charset="0"/>
              </a:rPr>
              <a:t>Preserve original evidence and generate SHA-256 hashes, unique Evidence IDs, and an evidence manifest for integrity verification and traceability.</a:t>
            </a:r>
          </a:p>
          <a:p>
            <a:pPr lvl="0" algn="just"/>
            <a:r>
              <a:rPr lang="en-IN" sz="1000" dirty="0">
                <a:latin typeface="Times New Roman" panose="02020603050405020304" pitchFamily="18" charset="0"/>
                <a:cs typeface="Times New Roman" panose="02020603050405020304" pitchFamily="18" charset="0"/>
              </a:rPr>
              <a:t>Normalize timestamps to UTC and estimate clock offsets using trusted time anchors when sufficient evidence is available.</a:t>
            </a:r>
          </a:p>
          <a:p>
            <a:pPr lvl="0" algn="just"/>
            <a:r>
              <a:rPr lang="en-IN" sz="1000" dirty="0">
                <a:latin typeface="Times New Roman" panose="02020603050405020304" pitchFamily="18" charset="0"/>
                <a:cs typeface="Times New Roman" panose="02020603050405020304" pitchFamily="18" charset="0"/>
              </a:rPr>
              <a:t>Correlate events from different sources to generate a unified chronological incident timeline.</a:t>
            </a:r>
          </a:p>
          <a:p>
            <a:pPr lvl="0" algn="just"/>
            <a:r>
              <a:rPr lang="en-IN" sz="1000" dirty="0">
                <a:latin typeface="Times New Roman" panose="02020603050405020304" pitchFamily="18" charset="0"/>
                <a:cs typeface="Times New Roman" panose="02020603050405020304" pitchFamily="18" charset="0"/>
              </a:rPr>
              <a:t>Provide search, filtering, structured reports, and diagnostics for parsing failures, missing timestamps, evidence gaps, and unresolved uncertainty.</a:t>
            </a:r>
          </a:p>
          <a:p>
            <a:pPr lvl="0" algn="just"/>
            <a:r>
              <a:rPr lang="en-IN" sz="1000" dirty="0">
                <a:latin typeface="Times New Roman" panose="02020603050405020304" pitchFamily="18" charset="0"/>
                <a:cs typeface="Times New Roman" panose="02020603050405020304" pitchFamily="18" charset="0"/>
              </a:rPr>
              <a:t>Validate the tool using three synthetic scenarios: clean logs, clock-skewed logs, and degraded evidence.</a:t>
            </a:r>
          </a:p>
        </p:txBody>
      </p:sp>
      <p:sp>
        <p:nvSpPr>
          <p:cNvPr id="6" name="object 6"/>
          <p:cNvSpPr txBox="1"/>
          <p:nvPr/>
        </p:nvSpPr>
        <p:spPr>
          <a:xfrm>
            <a:off x="239293" y="3050083"/>
            <a:ext cx="1881607"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5</a:t>
            </a:fld>
            <a:r>
              <a:rPr spc="5" dirty="0"/>
              <a:t> </a:t>
            </a:r>
            <a:r>
              <a:rPr dirty="0"/>
              <a:t>/</a:t>
            </a:r>
            <a:r>
              <a:rPr spc="10" dirty="0"/>
              <a:t> </a:t>
            </a:r>
            <a:r>
              <a:rPr spc="-25" dirty="0"/>
              <a:t>11</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4772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Solution</a:t>
            </a:r>
            <a:r>
              <a:rPr sz="600" b="1" spc="9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Optimization</a:t>
            </a:r>
            <a:endParaRPr sz="600">
              <a:latin typeface="Century Gothic"/>
              <a:cs typeface="Century Gothic"/>
            </a:endParaRPr>
          </a:p>
        </p:txBody>
      </p:sp>
      <p:sp>
        <p:nvSpPr>
          <p:cNvPr id="4" name="object 4"/>
          <p:cNvSpPr txBox="1"/>
          <p:nvPr/>
        </p:nvSpPr>
        <p:spPr>
          <a:xfrm>
            <a:off x="239293" y="198244"/>
            <a:ext cx="1808480" cy="232756"/>
          </a:xfrm>
          <a:prstGeom prst="rect">
            <a:avLst/>
          </a:prstGeom>
        </p:spPr>
        <p:txBody>
          <a:bodyPr vert="horz" wrap="square" lIns="0" tIns="17145" rIns="0" bIns="0" rtlCol="0">
            <a:spAutoFit/>
          </a:bodyPr>
          <a:lstStyle/>
          <a:p>
            <a:pPr marL="12700">
              <a:lnSpc>
                <a:spcPct val="100000"/>
              </a:lnSpc>
              <a:spcBef>
                <a:spcPts val="135"/>
              </a:spcBef>
            </a:pPr>
            <a:r>
              <a:rPr sz="1400" b="1" spc="-60" dirty="0">
                <a:solidFill>
                  <a:srgbClr val="0000DC"/>
                </a:solidFill>
                <a:latin typeface="Times New Roman" panose="02020603050405020304" pitchFamily="18" charset="0"/>
                <a:cs typeface="Times New Roman" panose="02020603050405020304" pitchFamily="18" charset="0"/>
              </a:rPr>
              <a:t>Optimization</a:t>
            </a:r>
            <a:r>
              <a:rPr sz="1400" b="1" dirty="0">
                <a:solidFill>
                  <a:srgbClr val="0000DC"/>
                </a:solidFill>
                <a:latin typeface="Times New Roman" panose="02020603050405020304" pitchFamily="18" charset="0"/>
                <a:cs typeface="Times New Roman" panose="02020603050405020304" pitchFamily="18" charset="0"/>
              </a:rPr>
              <a:t> </a:t>
            </a:r>
            <a:r>
              <a:rPr sz="1400" b="1" spc="-80" dirty="0">
                <a:solidFill>
                  <a:srgbClr val="0000DC"/>
                </a:solidFill>
                <a:latin typeface="Times New Roman" panose="02020603050405020304" pitchFamily="18" charset="0"/>
                <a:cs typeface="Times New Roman" panose="02020603050405020304" pitchFamily="18" charset="0"/>
              </a:rPr>
              <a:t>Proposed</a:t>
            </a:r>
            <a:endParaRPr sz="1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239293" y="3050083"/>
            <a:ext cx="1881607"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6</a:t>
            </a:fld>
            <a:r>
              <a:rPr spc="5" dirty="0"/>
              <a:t> </a:t>
            </a:r>
            <a:r>
              <a:rPr dirty="0"/>
              <a:t>/</a:t>
            </a:r>
            <a:r>
              <a:rPr spc="10" dirty="0"/>
              <a:t> </a:t>
            </a:r>
            <a:r>
              <a:rPr spc="-25" dirty="0"/>
              <a:t>11</a:t>
            </a:r>
          </a:p>
        </p:txBody>
      </p:sp>
      <p:pic>
        <p:nvPicPr>
          <p:cNvPr id="12" name="Picture 11">
            <a:extLst>
              <a:ext uri="{FF2B5EF4-FFF2-40B4-BE49-F238E27FC236}">
                <a16:creationId xmlns:a16="http://schemas.microsoft.com/office/drawing/2014/main" id="{694A5354-7157-EA74-BE6E-FDAEAB620A00}"/>
              </a:ext>
            </a:extLst>
          </p:cNvPr>
          <p:cNvPicPr>
            <a:picLocks noChangeAspect="1"/>
          </p:cNvPicPr>
          <p:nvPr/>
        </p:nvPicPr>
        <p:blipFill>
          <a:blip r:embed="rId4"/>
          <a:stretch>
            <a:fillRect/>
          </a:stretch>
        </p:blipFill>
        <p:spPr>
          <a:xfrm>
            <a:off x="520700" y="544951"/>
            <a:ext cx="4714278" cy="2296673"/>
          </a:xfrm>
          <a:prstGeom prst="rect">
            <a:avLst/>
          </a:prstGeom>
          <a:ln>
            <a:solidFill>
              <a:schemeClr val="tx1"/>
            </a:solidFill>
          </a:ln>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9293" y="-20564"/>
            <a:ext cx="2574290" cy="462915"/>
          </a:xfrm>
          <a:prstGeom prst="rect">
            <a:avLst/>
          </a:prstGeom>
        </p:spPr>
        <p:txBody>
          <a:bodyPr vert="horz" wrap="square" lIns="0" tIns="49530" rIns="0" bIns="0" rtlCol="0">
            <a:spAutoFit/>
          </a:bodyPr>
          <a:lstStyle/>
          <a:p>
            <a:pPr marR="5080" algn="r">
              <a:lnSpc>
                <a:spcPct val="100000"/>
              </a:lnSpc>
              <a:spcBef>
                <a:spcPts val="390"/>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dirty="0">
              <a:latin typeface="Century Gothic"/>
              <a:cs typeface="Century Gothic"/>
            </a:endParaRPr>
          </a:p>
          <a:p>
            <a:pPr>
              <a:lnSpc>
                <a:spcPct val="100000"/>
              </a:lnSpc>
              <a:spcBef>
                <a:spcPts val="10"/>
              </a:spcBef>
            </a:pPr>
            <a:endParaRPr sz="600" dirty="0">
              <a:latin typeface="Century Gothic"/>
              <a:cs typeface="Century Gothic"/>
            </a:endParaRPr>
          </a:p>
          <a:p>
            <a:pPr marL="12700">
              <a:lnSpc>
                <a:spcPct val="100000"/>
              </a:lnSpc>
            </a:pPr>
            <a:r>
              <a:rPr sz="1400" b="1" spc="-20" dirty="0">
                <a:solidFill>
                  <a:srgbClr val="0000DC"/>
                </a:solidFill>
                <a:latin typeface="Times New Roman" panose="02020603050405020304" pitchFamily="18" charset="0"/>
                <a:cs typeface="Times New Roman" panose="02020603050405020304" pitchFamily="18" charset="0"/>
              </a:rPr>
              <a:t>Solution </a:t>
            </a:r>
            <a:r>
              <a:rPr sz="1400" b="1" spc="-85" dirty="0">
                <a:solidFill>
                  <a:srgbClr val="0000DC"/>
                </a:solidFill>
                <a:latin typeface="Times New Roman" panose="02020603050405020304" pitchFamily="18" charset="0"/>
                <a:cs typeface="Times New Roman" panose="02020603050405020304" pitchFamily="18" charset="0"/>
              </a:rPr>
              <a:t>Architecture</a:t>
            </a:r>
            <a:r>
              <a:rPr sz="1400" b="1" spc="-15" dirty="0">
                <a:solidFill>
                  <a:srgbClr val="0000DC"/>
                </a:solidFill>
                <a:latin typeface="Times New Roman" panose="02020603050405020304" pitchFamily="18" charset="0"/>
                <a:cs typeface="Times New Roman" panose="02020603050405020304" pitchFamily="18" charset="0"/>
              </a:rPr>
              <a:t> </a:t>
            </a:r>
            <a:r>
              <a:rPr sz="1400" b="1" spc="204" dirty="0">
                <a:solidFill>
                  <a:srgbClr val="0000DC"/>
                </a:solidFill>
                <a:latin typeface="Times New Roman" panose="02020603050405020304" pitchFamily="18" charset="0"/>
                <a:cs typeface="Times New Roman" panose="02020603050405020304" pitchFamily="18" charset="0"/>
              </a:rPr>
              <a:t>&amp;</a:t>
            </a:r>
            <a:r>
              <a:rPr sz="1400" b="1" spc="-15" dirty="0">
                <a:solidFill>
                  <a:srgbClr val="0000DC"/>
                </a:solidFill>
                <a:latin typeface="Times New Roman" panose="02020603050405020304" pitchFamily="18" charset="0"/>
                <a:cs typeface="Times New Roman" panose="02020603050405020304" pitchFamily="18" charset="0"/>
              </a:rPr>
              <a:t> </a:t>
            </a:r>
            <a:r>
              <a:rPr sz="1400" b="1" spc="-10" dirty="0">
                <a:solidFill>
                  <a:srgbClr val="0000DC"/>
                </a:solidFill>
                <a:latin typeface="Times New Roman" panose="02020603050405020304" pitchFamily="18" charset="0"/>
                <a:cs typeface="Times New Roman" panose="02020603050405020304" pitchFamily="18" charset="0"/>
              </a:rPr>
              <a:t>Design</a:t>
            </a:r>
            <a:endParaRPr sz="1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2947016" y="16997"/>
            <a:ext cx="133096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3" action="ppaction://hlinksldjump"/>
              </a:rPr>
              <a:t>Architecture</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Design</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(UML</a:t>
            </a:r>
            <a:r>
              <a:rPr sz="600" b="1" spc="1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a:latin typeface="Century Gothic"/>
              <a:cs typeface="Century Gothic"/>
            </a:endParaRPr>
          </a:p>
        </p:txBody>
      </p:sp>
      <p:sp>
        <p:nvSpPr>
          <p:cNvPr id="10" name="object 10"/>
          <p:cNvSpPr txBox="1"/>
          <p:nvPr/>
        </p:nvSpPr>
        <p:spPr>
          <a:xfrm>
            <a:off x="1742757" y="2801098"/>
            <a:ext cx="2280285" cy="177800"/>
          </a:xfrm>
          <a:prstGeom prst="rect">
            <a:avLst/>
          </a:prstGeom>
        </p:spPr>
        <p:txBody>
          <a:bodyPr vert="horz" wrap="square" lIns="0" tIns="12065" rIns="0" bIns="0" rtlCol="0">
            <a:spAutoFit/>
          </a:bodyPr>
          <a:lstStyle/>
          <a:p>
            <a:pPr marL="12700">
              <a:lnSpc>
                <a:spcPct val="100000"/>
              </a:lnSpc>
              <a:spcBef>
                <a:spcPts val="95"/>
              </a:spcBef>
            </a:pPr>
            <a:r>
              <a:rPr sz="1000" spc="-40" dirty="0">
                <a:solidFill>
                  <a:srgbClr val="0000DC"/>
                </a:solidFill>
                <a:latin typeface="Century Gothic"/>
                <a:cs typeface="Century Gothic"/>
              </a:rPr>
              <a:t>Figure:</a:t>
            </a:r>
            <a:r>
              <a:rPr sz="1000" dirty="0">
                <a:solidFill>
                  <a:srgbClr val="0000DC"/>
                </a:solidFill>
                <a:latin typeface="Century Gothic"/>
                <a:cs typeface="Century Gothic"/>
              </a:rPr>
              <a:t> </a:t>
            </a:r>
            <a:r>
              <a:rPr sz="1000" spc="-60" dirty="0">
                <a:latin typeface="Century Gothic"/>
                <a:cs typeface="Century Gothic"/>
              </a:rPr>
              <a:t>System</a:t>
            </a:r>
            <a:r>
              <a:rPr sz="1000" dirty="0">
                <a:latin typeface="Century Gothic"/>
                <a:cs typeface="Century Gothic"/>
              </a:rPr>
              <a:t> </a:t>
            </a:r>
            <a:r>
              <a:rPr sz="1000" spc="-80" dirty="0">
                <a:latin typeface="Century Gothic"/>
                <a:cs typeface="Century Gothic"/>
              </a:rPr>
              <a:t>Architecture</a:t>
            </a:r>
            <a:r>
              <a:rPr sz="1000" dirty="0">
                <a:latin typeface="Century Gothic"/>
                <a:cs typeface="Century Gothic"/>
              </a:rPr>
              <a:t> </a:t>
            </a:r>
            <a:r>
              <a:rPr sz="1000" spc="-25" dirty="0">
                <a:latin typeface="Century Gothic"/>
                <a:cs typeface="Century Gothic"/>
              </a:rPr>
              <a:t>UML</a:t>
            </a:r>
            <a:r>
              <a:rPr sz="1000" dirty="0">
                <a:latin typeface="Century Gothic"/>
                <a:cs typeface="Century Gothic"/>
              </a:rPr>
              <a:t> </a:t>
            </a:r>
            <a:r>
              <a:rPr sz="1000" spc="-75" dirty="0">
                <a:latin typeface="Century Gothic"/>
                <a:cs typeface="Century Gothic"/>
              </a:rPr>
              <a:t>Diagram</a:t>
            </a:r>
            <a:endParaRPr sz="1000" dirty="0">
              <a:latin typeface="Century Gothic"/>
              <a:cs typeface="Century Gothic"/>
            </a:endParaRPr>
          </a:p>
        </p:txBody>
      </p:sp>
      <p:sp>
        <p:nvSpPr>
          <p:cNvPr id="11" name="object 11"/>
          <p:cNvSpPr txBox="1"/>
          <p:nvPr/>
        </p:nvSpPr>
        <p:spPr>
          <a:xfrm>
            <a:off x="239293" y="3050083"/>
            <a:ext cx="1881607"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12" name="object 12"/>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7</a:t>
            </a:fld>
            <a:r>
              <a:rPr spc="5" dirty="0"/>
              <a:t> </a:t>
            </a:r>
            <a:r>
              <a:rPr dirty="0"/>
              <a:t>/</a:t>
            </a:r>
            <a:r>
              <a:rPr spc="10" dirty="0"/>
              <a:t> </a:t>
            </a:r>
            <a:r>
              <a:rPr spc="-25" dirty="0"/>
              <a:t>11</a:t>
            </a:r>
          </a:p>
        </p:txBody>
      </p:sp>
      <p:sp>
        <p:nvSpPr>
          <p:cNvPr id="14" name="object 9">
            <a:extLst>
              <a:ext uri="{FF2B5EF4-FFF2-40B4-BE49-F238E27FC236}">
                <a16:creationId xmlns:a16="http://schemas.microsoft.com/office/drawing/2014/main" id="{85A50181-CC8E-5E80-E4DA-18FC2199D577}"/>
              </a:ext>
            </a:extLst>
          </p:cNvPr>
          <p:cNvSpPr txBox="1"/>
          <p:nvPr/>
        </p:nvSpPr>
        <p:spPr>
          <a:xfrm>
            <a:off x="1892462" y="1470025"/>
            <a:ext cx="1083310" cy="567690"/>
          </a:xfrm>
          <a:prstGeom prst="rect">
            <a:avLst/>
          </a:prstGeom>
        </p:spPr>
        <p:txBody>
          <a:bodyPr vert="horz" wrap="square" lIns="0" tIns="13335" rIns="0" bIns="0" rtlCol="0">
            <a:spAutoFit/>
          </a:bodyPr>
          <a:lstStyle/>
          <a:p>
            <a:pPr marL="12700">
              <a:lnSpc>
                <a:spcPct val="100000"/>
              </a:lnSpc>
              <a:spcBef>
                <a:spcPts val="105"/>
              </a:spcBef>
            </a:pPr>
            <a:endParaRPr sz="3550" dirty="0">
              <a:latin typeface="Arial Narrow"/>
              <a:cs typeface="Arial Narrow"/>
            </a:endParaRPr>
          </a:p>
        </p:txBody>
      </p:sp>
      <p:pic>
        <p:nvPicPr>
          <p:cNvPr id="18" name="Picture 17">
            <a:extLst>
              <a:ext uri="{FF2B5EF4-FFF2-40B4-BE49-F238E27FC236}">
                <a16:creationId xmlns:a16="http://schemas.microsoft.com/office/drawing/2014/main" id="{81FFC35B-FDB3-D8B2-4A30-74353EAAAC01}"/>
              </a:ext>
            </a:extLst>
          </p:cNvPr>
          <p:cNvPicPr>
            <a:picLocks noChangeAspect="1"/>
          </p:cNvPicPr>
          <p:nvPr/>
        </p:nvPicPr>
        <p:blipFill>
          <a:blip r:embed="rId4"/>
          <a:stretch>
            <a:fillRect/>
          </a:stretch>
        </p:blipFill>
        <p:spPr>
          <a:xfrm>
            <a:off x="756183" y="488420"/>
            <a:ext cx="4114800" cy="2298502"/>
          </a:xfrm>
          <a:prstGeom prst="rect">
            <a:avLst/>
          </a:prstGeom>
          <a:ln>
            <a:solidFill>
              <a:schemeClr val="tx1"/>
            </a:solidFill>
          </a:ln>
        </p:spPr>
      </p:pic>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1169035" cy="116839"/>
          </a:xfrm>
          <a:prstGeom prst="rect">
            <a:avLst/>
          </a:prstGeom>
        </p:spPr>
        <p:txBody>
          <a:bodyPr vert="horz" wrap="square" lIns="0" tIns="12065" rIns="0" bIns="0" rtlCol="0">
            <a:spAutoFit/>
          </a:bodyPr>
          <a:lstStyle/>
          <a:p>
            <a:pPr marL="12700">
              <a:lnSpc>
                <a:spcPct val="100000"/>
              </a:lnSpc>
              <a:spcBef>
                <a:spcPts val="95"/>
              </a:spcBef>
              <a:tabLst>
                <a:tab pos="450850" algn="l"/>
              </a:tabLst>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r>
              <a:rPr sz="600" b="1" dirty="0">
                <a:solidFill>
                  <a:srgbClr val="0000DC"/>
                </a:solidFill>
                <a:latin typeface="Century Gothic"/>
                <a:cs typeface="Century Gothic"/>
              </a:rPr>
              <a:t>	</a:t>
            </a:r>
            <a:r>
              <a:rPr sz="600" b="1" spc="-10" dirty="0">
                <a:solidFill>
                  <a:srgbClr val="0000DC"/>
                </a:solidFill>
                <a:latin typeface="Century Gothic"/>
                <a:cs typeface="Century Gothic"/>
                <a:hlinkClick r:id="rId3" action="ppaction://hlinksldjump"/>
              </a:rPr>
              <a:t>Data</a:t>
            </a:r>
            <a:r>
              <a:rPr sz="600" b="1" spc="2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Flow</a:t>
            </a:r>
            <a:r>
              <a:rPr sz="600" b="1" spc="20"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dirty="0">
              <a:latin typeface="Century Gothic"/>
              <a:cs typeface="Century Gothic"/>
            </a:endParaRPr>
          </a:p>
        </p:txBody>
      </p:sp>
      <p:sp>
        <p:nvSpPr>
          <p:cNvPr id="3" name="object 3" descr="$PPTXTitle"/>
          <p:cNvSpPr txBox="1">
            <a:spLocks noGrp="1"/>
          </p:cNvSpPr>
          <p:nvPr>
            <p:ph type="title"/>
          </p:nvPr>
        </p:nvSpPr>
        <p:spPr>
          <a:xfrm>
            <a:off x="239293" y="106208"/>
            <a:ext cx="4951730" cy="325730"/>
          </a:xfrm>
          <a:prstGeom prst="rect">
            <a:avLst/>
          </a:prstGeom>
        </p:spPr>
        <p:txBody>
          <a:bodyPr vert="horz" wrap="square" lIns="0" tIns="109220" rIns="0" bIns="0" rtlCol="0">
            <a:spAutoFit/>
          </a:bodyPr>
          <a:lstStyle/>
          <a:p>
            <a:pPr marL="12700">
              <a:lnSpc>
                <a:spcPct val="100000"/>
              </a:lnSpc>
              <a:spcBef>
                <a:spcPts val="860"/>
              </a:spcBef>
            </a:pPr>
            <a:r>
              <a:rPr spc="-114" dirty="0">
                <a:latin typeface="Times New Roman" panose="02020603050405020304" pitchFamily="18" charset="0"/>
                <a:cs typeface="Times New Roman" panose="02020603050405020304" pitchFamily="18" charset="0"/>
              </a:rPr>
              <a:t>Data</a:t>
            </a:r>
            <a:r>
              <a:rPr spc="-30"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Flow</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Diagram</a:t>
            </a:r>
          </a:p>
        </p:txBody>
      </p:sp>
      <p:sp>
        <p:nvSpPr>
          <p:cNvPr id="9" name="object 9"/>
          <p:cNvSpPr txBox="1"/>
          <p:nvPr/>
        </p:nvSpPr>
        <p:spPr>
          <a:xfrm>
            <a:off x="1979218" y="2843789"/>
            <a:ext cx="1802130" cy="177800"/>
          </a:xfrm>
          <a:prstGeom prst="rect">
            <a:avLst/>
          </a:prstGeom>
        </p:spPr>
        <p:txBody>
          <a:bodyPr vert="horz" wrap="square" lIns="0" tIns="12065" rIns="0" bIns="0" rtlCol="0">
            <a:spAutoFit/>
          </a:bodyPr>
          <a:lstStyle/>
          <a:p>
            <a:pPr marL="12700">
              <a:lnSpc>
                <a:spcPct val="100000"/>
              </a:lnSpc>
              <a:spcBef>
                <a:spcPts val="95"/>
              </a:spcBef>
            </a:pPr>
            <a:r>
              <a:rPr sz="1000" spc="-40" dirty="0">
                <a:solidFill>
                  <a:srgbClr val="0000DC"/>
                </a:solidFill>
                <a:latin typeface="Century Gothic"/>
                <a:cs typeface="Century Gothic"/>
              </a:rPr>
              <a:t>Figure:</a:t>
            </a:r>
            <a:r>
              <a:rPr sz="1000" dirty="0">
                <a:solidFill>
                  <a:srgbClr val="0000DC"/>
                </a:solidFill>
                <a:latin typeface="Century Gothic"/>
                <a:cs typeface="Century Gothic"/>
              </a:rPr>
              <a:t> </a:t>
            </a:r>
            <a:r>
              <a:rPr sz="1000" spc="-130" dirty="0">
                <a:latin typeface="Century Gothic"/>
                <a:cs typeface="Century Gothic"/>
              </a:rPr>
              <a:t>Data</a:t>
            </a:r>
            <a:r>
              <a:rPr sz="1000" dirty="0">
                <a:latin typeface="Century Gothic"/>
                <a:cs typeface="Century Gothic"/>
              </a:rPr>
              <a:t> </a:t>
            </a:r>
            <a:r>
              <a:rPr sz="1000" spc="-25" dirty="0">
                <a:latin typeface="Century Gothic"/>
                <a:cs typeface="Century Gothic"/>
              </a:rPr>
              <a:t>Flow</a:t>
            </a:r>
            <a:r>
              <a:rPr sz="1000" dirty="0">
                <a:latin typeface="Century Gothic"/>
                <a:cs typeface="Century Gothic"/>
              </a:rPr>
              <a:t> </a:t>
            </a:r>
            <a:r>
              <a:rPr sz="1000" spc="-105" dirty="0">
                <a:latin typeface="Century Gothic"/>
                <a:cs typeface="Century Gothic"/>
              </a:rPr>
              <a:t>Diagram</a:t>
            </a:r>
            <a:r>
              <a:rPr sz="1000" dirty="0">
                <a:latin typeface="Century Gothic"/>
                <a:cs typeface="Century Gothic"/>
              </a:rPr>
              <a:t> </a:t>
            </a:r>
            <a:r>
              <a:rPr sz="1000" spc="-55" dirty="0">
                <a:latin typeface="Century Gothic"/>
                <a:cs typeface="Century Gothic"/>
              </a:rPr>
              <a:t>(DFD)</a:t>
            </a:r>
            <a:endParaRPr sz="1000">
              <a:latin typeface="Century Gothic"/>
              <a:cs typeface="Century Gothic"/>
            </a:endParaRPr>
          </a:p>
        </p:txBody>
      </p:sp>
      <p:sp>
        <p:nvSpPr>
          <p:cNvPr id="10" name="object 10"/>
          <p:cNvSpPr txBox="1"/>
          <p:nvPr/>
        </p:nvSpPr>
        <p:spPr>
          <a:xfrm>
            <a:off x="239293" y="3050083"/>
            <a:ext cx="1881607"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11" name="object 11"/>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8</a:t>
            </a:fld>
            <a:r>
              <a:rPr spc="5" dirty="0"/>
              <a:t> </a:t>
            </a:r>
            <a:r>
              <a:rPr dirty="0"/>
              <a:t>/</a:t>
            </a:r>
            <a:r>
              <a:rPr spc="10" dirty="0"/>
              <a:t> </a:t>
            </a:r>
            <a:r>
              <a:rPr spc="-25" dirty="0"/>
              <a:t>11</a:t>
            </a:r>
          </a:p>
        </p:txBody>
      </p:sp>
      <p:pic>
        <p:nvPicPr>
          <p:cNvPr id="13" name="Picture 12">
            <a:extLst>
              <a:ext uri="{FF2B5EF4-FFF2-40B4-BE49-F238E27FC236}">
                <a16:creationId xmlns:a16="http://schemas.microsoft.com/office/drawing/2014/main" id="{F86D8587-1117-CE5C-8604-E772332D5970}"/>
              </a:ext>
            </a:extLst>
          </p:cNvPr>
          <p:cNvPicPr>
            <a:picLocks noChangeAspect="1"/>
          </p:cNvPicPr>
          <p:nvPr/>
        </p:nvPicPr>
        <p:blipFill>
          <a:blip r:embed="rId4"/>
          <a:stretch>
            <a:fillRect/>
          </a:stretch>
        </p:blipFill>
        <p:spPr>
          <a:xfrm>
            <a:off x="538796" y="676274"/>
            <a:ext cx="4670323" cy="1966049"/>
          </a:xfrm>
          <a:prstGeom prst="rect">
            <a:avLst/>
          </a:prstGeom>
          <a:ln>
            <a:solidFill>
              <a:schemeClr val="tx1"/>
            </a:solidFill>
          </a:ln>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3058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3" action="ppaction://hlinksldjump"/>
              </a:rPr>
              <a:t>Deployment</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Timeline</a:t>
            </a:r>
            <a:endParaRPr sz="600">
              <a:latin typeface="Century Gothic"/>
              <a:cs typeface="Century Gothic"/>
            </a:endParaRPr>
          </a:p>
        </p:txBody>
      </p:sp>
      <p:sp>
        <p:nvSpPr>
          <p:cNvPr id="4" name="object 4"/>
          <p:cNvSpPr txBox="1"/>
          <p:nvPr/>
        </p:nvSpPr>
        <p:spPr>
          <a:xfrm>
            <a:off x="239293" y="198244"/>
            <a:ext cx="1704975" cy="244475"/>
          </a:xfrm>
          <a:prstGeom prst="rect">
            <a:avLst/>
          </a:prstGeom>
        </p:spPr>
        <p:txBody>
          <a:bodyPr vert="horz" wrap="square" lIns="0" tIns="17145" rIns="0" bIns="0" rtlCol="0">
            <a:spAutoFit/>
          </a:bodyPr>
          <a:lstStyle/>
          <a:p>
            <a:pPr marL="12700">
              <a:lnSpc>
                <a:spcPct val="100000"/>
              </a:lnSpc>
              <a:spcBef>
                <a:spcPts val="135"/>
              </a:spcBef>
            </a:pPr>
            <a:r>
              <a:rPr sz="1400" b="1" spc="-95" dirty="0">
                <a:solidFill>
                  <a:srgbClr val="0000DC"/>
                </a:solidFill>
                <a:latin typeface="Century Gothic"/>
                <a:cs typeface="Century Gothic"/>
              </a:rPr>
              <a:t>Deployment</a:t>
            </a:r>
            <a:r>
              <a:rPr sz="1400" b="1" spc="-20" dirty="0">
                <a:solidFill>
                  <a:srgbClr val="0000DC"/>
                </a:solidFill>
                <a:latin typeface="Century Gothic"/>
                <a:cs typeface="Century Gothic"/>
              </a:rPr>
              <a:t> </a:t>
            </a:r>
            <a:r>
              <a:rPr sz="1400" b="1" spc="-10" dirty="0">
                <a:solidFill>
                  <a:srgbClr val="0000DC"/>
                </a:solidFill>
                <a:latin typeface="Century Gothic"/>
                <a:cs typeface="Century Gothic"/>
              </a:rPr>
              <a:t>Timeline</a:t>
            </a:r>
            <a:endParaRPr sz="1400" dirty="0">
              <a:latin typeface="Century Gothic"/>
              <a:cs typeface="Century Gothic"/>
            </a:endParaRPr>
          </a:p>
        </p:txBody>
      </p:sp>
      <p:sp>
        <p:nvSpPr>
          <p:cNvPr id="6" name="object 6"/>
          <p:cNvSpPr txBox="1"/>
          <p:nvPr/>
        </p:nvSpPr>
        <p:spPr>
          <a:xfrm>
            <a:off x="239293" y="3050083"/>
            <a:ext cx="1881607"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9</a:t>
            </a:fld>
            <a:r>
              <a:rPr spc="5" dirty="0"/>
              <a:t> </a:t>
            </a:r>
            <a:r>
              <a:rPr dirty="0"/>
              <a:t>/</a:t>
            </a:r>
            <a:r>
              <a:rPr spc="10" dirty="0"/>
              <a:t> </a:t>
            </a:r>
            <a:r>
              <a:rPr spc="-25" dirty="0"/>
              <a:t>11</a:t>
            </a:r>
          </a:p>
        </p:txBody>
      </p:sp>
      <p:pic>
        <p:nvPicPr>
          <p:cNvPr id="12" name="Picture 11">
            <a:extLst>
              <a:ext uri="{FF2B5EF4-FFF2-40B4-BE49-F238E27FC236}">
                <a16:creationId xmlns:a16="http://schemas.microsoft.com/office/drawing/2014/main" id="{2E11411D-729D-A397-9891-F2AC623B5261}"/>
              </a:ext>
            </a:extLst>
          </p:cNvPr>
          <p:cNvPicPr>
            <a:picLocks noChangeAspect="1"/>
          </p:cNvPicPr>
          <p:nvPr/>
        </p:nvPicPr>
        <p:blipFill>
          <a:blip r:embed="rId4"/>
          <a:stretch>
            <a:fillRect/>
          </a:stretch>
        </p:blipFill>
        <p:spPr>
          <a:xfrm>
            <a:off x="444500" y="442719"/>
            <a:ext cx="4724400" cy="2514600"/>
          </a:xfrm>
          <a:prstGeom prst="rect">
            <a:avLst/>
          </a:prstGeom>
          <a:ln>
            <a:solidFill>
              <a:schemeClr val="tx1"/>
            </a:solidFill>
          </a:ln>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2885" y="16997"/>
            <a:ext cx="50038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Bibliography</a:t>
            </a:r>
            <a:endParaRPr sz="600">
              <a:latin typeface="Century Gothic"/>
              <a:cs typeface="Century Gothic"/>
            </a:endParaRPr>
          </a:p>
        </p:txBody>
      </p:sp>
      <p:sp>
        <p:nvSpPr>
          <p:cNvPr id="3" name="object 3" descr="$PPTXTitle"/>
          <p:cNvSpPr txBox="1">
            <a:spLocks noGrp="1"/>
          </p:cNvSpPr>
          <p:nvPr>
            <p:ph type="title"/>
          </p:nvPr>
        </p:nvSpPr>
        <p:spPr>
          <a:xfrm>
            <a:off x="239293" y="198244"/>
            <a:ext cx="1115060" cy="232756"/>
          </a:xfrm>
          <a:prstGeom prst="rect">
            <a:avLst/>
          </a:prstGeom>
        </p:spPr>
        <p:txBody>
          <a:bodyPr vert="horz" wrap="square" lIns="0" tIns="17145" rIns="0" bIns="0" rtlCol="0">
            <a:spAutoFit/>
          </a:bodyPr>
          <a:lstStyle/>
          <a:p>
            <a:pPr marL="12700">
              <a:lnSpc>
                <a:spcPct val="100000"/>
              </a:lnSpc>
              <a:spcBef>
                <a:spcPts val="135"/>
              </a:spcBef>
            </a:pPr>
            <a:r>
              <a:rPr spc="-65" dirty="0"/>
              <a:t>Bibliography</a:t>
            </a:r>
            <a:r>
              <a:rPr spc="-20" dirty="0"/>
              <a:t> </a:t>
            </a:r>
            <a:endParaRPr spc="-50" dirty="0"/>
          </a:p>
        </p:txBody>
      </p:sp>
      <p:sp>
        <p:nvSpPr>
          <p:cNvPr id="4" name="object 4"/>
          <p:cNvSpPr txBox="1">
            <a:spLocks noGrp="1"/>
          </p:cNvSpPr>
          <p:nvPr>
            <p:ph type="body" idx="1"/>
          </p:nvPr>
        </p:nvSpPr>
        <p:spPr>
          <a:xfrm>
            <a:off x="239293" y="552425"/>
            <a:ext cx="5388966" cy="2376933"/>
          </a:xfrm>
          <a:prstGeom prst="rect">
            <a:avLst/>
          </a:prstGeom>
        </p:spPr>
        <p:txBody>
          <a:bodyPr vert="horz" wrap="square" lIns="0" tIns="6985" rIns="0" bIns="0" rtlCol="0">
            <a:spAutoFit/>
          </a:bodyPr>
          <a:lstStyle/>
          <a:p>
            <a:pPr algn="just"/>
            <a:r>
              <a:rPr lang="en-IN" sz="1000" b="1" dirty="0">
                <a:latin typeface="Times New Roman" panose="02020603050405020304" pitchFamily="18" charset="0"/>
                <a:cs typeface="Times New Roman" panose="02020603050405020304" pitchFamily="18" charset="0"/>
              </a:rPr>
              <a:t>[1] K. Kent, S. Chevalier, T. Grance, and H. Dang, “Guide to Integrating Forensic Techniques into Incident Response,” NIST Special Publication 800-86, 2006. </a:t>
            </a:r>
            <a:r>
              <a:rPr lang="en-IN" sz="1000" b="1" u="sng" dirty="0">
                <a:latin typeface="Times New Roman" panose="02020603050405020304" pitchFamily="18" charset="0"/>
                <a:cs typeface="Times New Roman" panose="02020603050405020304" pitchFamily="18" charset="0"/>
                <a:hlinkClick r:id="rId3"/>
              </a:rPr>
              <a:t>https://csrc.nist.gov/pubs/sp/800/86/final</a:t>
            </a:r>
            <a:endParaRPr lang="en-IN" sz="1000" dirty="0">
              <a:latin typeface="Times New Roman" panose="02020603050405020304" pitchFamily="18" charset="0"/>
              <a:cs typeface="Times New Roman" panose="02020603050405020304" pitchFamily="18" charset="0"/>
            </a:endParaRPr>
          </a:p>
          <a:p>
            <a:pPr algn="just"/>
            <a:r>
              <a:rPr lang="en-IN" sz="1000" b="1" dirty="0">
                <a:latin typeface="Times New Roman" panose="02020603050405020304" pitchFamily="18" charset="0"/>
                <a:cs typeface="Times New Roman" panose="02020603050405020304" pitchFamily="18" charset="0"/>
              </a:rPr>
              <a:t>[2] K. Kent and M. </a:t>
            </a:r>
            <a:r>
              <a:rPr lang="en-IN" sz="1000" b="1" dirty="0" err="1">
                <a:latin typeface="Times New Roman" panose="02020603050405020304" pitchFamily="18" charset="0"/>
                <a:cs typeface="Times New Roman" panose="02020603050405020304" pitchFamily="18" charset="0"/>
              </a:rPr>
              <a:t>Souppaya</a:t>
            </a:r>
            <a:r>
              <a:rPr lang="en-IN" sz="1000" b="1" dirty="0">
                <a:latin typeface="Times New Roman" panose="02020603050405020304" pitchFamily="18" charset="0"/>
                <a:cs typeface="Times New Roman" panose="02020603050405020304" pitchFamily="18" charset="0"/>
              </a:rPr>
              <a:t>, “Guide to Computer Security Log Management,” NIST Special Publication 800-92, 2006. </a:t>
            </a:r>
            <a:r>
              <a:rPr lang="en-IN" sz="1000" b="1" u="sng" dirty="0">
                <a:latin typeface="Times New Roman" panose="02020603050405020304" pitchFamily="18" charset="0"/>
                <a:cs typeface="Times New Roman" panose="02020603050405020304" pitchFamily="18" charset="0"/>
                <a:hlinkClick r:id="rId4"/>
              </a:rPr>
              <a:t>https://csrc.nist.gov/pubs/sp/800/92/final</a:t>
            </a:r>
            <a:endParaRPr lang="en-IN" sz="1000" dirty="0">
              <a:latin typeface="Times New Roman" panose="02020603050405020304" pitchFamily="18" charset="0"/>
              <a:cs typeface="Times New Roman" panose="02020603050405020304" pitchFamily="18" charset="0"/>
            </a:endParaRPr>
          </a:p>
          <a:p>
            <a:pPr algn="just"/>
            <a:r>
              <a:rPr lang="en-IN" sz="1000" b="1" dirty="0">
                <a:latin typeface="Times New Roman" panose="02020603050405020304" pitchFamily="18" charset="0"/>
                <a:cs typeface="Times New Roman" panose="02020603050405020304" pitchFamily="18" charset="0"/>
              </a:rPr>
              <a:t>[3] R. Gerhards, “The Syslog Protocol,” RFC 5424, IETF, March 2009. </a:t>
            </a:r>
            <a:r>
              <a:rPr lang="en-IN" sz="1000" b="1" u="sng" dirty="0">
                <a:latin typeface="Times New Roman" panose="02020603050405020304" pitchFamily="18" charset="0"/>
                <a:cs typeface="Times New Roman" panose="02020603050405020304" pitchFamily="18" charset="0"/>
                <a:hlinkClick r:id="rId5"/>
              </a:rPr>
              <a:t>https://www.rfc-editor.org/rfc/rfc5424</a:t>
            </a:r>
            <a:endParaRPr lang="en-IN" sz="1000" dirty="0">
              <a:latin typeface="Times New Roman" panose="02020603050405020304" pitchFamily="18" charset="0"/>
              <a:cs typeface="Times New Roman" panose="02020603050405020304" pitchFamily="18" charset="0"/>
            </a:endParaRPr>
          </a:p>
          <a:p>
            <a:pPr algn="just"/>
            <a:r>
              <a:rPr lang="en-IN" sz="1000" b="1" dirty="0">
                <a:latin typeface="Times New Roman" panose="02020603050405020304" pitchFamily="18" charset="0"/>
                <a:cs typeface="Times New Roman" panose="02020603050405020304" pitchFamily="18" charset="0"/>
              </a:rPr>
              <a:t>[4] G. Klyne and C. Newman, “Date and Time on the Internet: Timestamps,” RFC 3339, IETF, July 2002. </a:t>
            </a:r>
            <a:r>
              <a:rPr lang="en-IN" sz="1000" b="1" u="sng" dirty="0">
                <a:latin typeface="Times New Roman" panose="02020603050405020304" pitchFamily="18" charset="0"/>
                <a:cs typeface="Times New Roman" panose="02020603050405020304" pitchFamily="18" charset="0"/>
                <a:hlinkClick r:id="rId6"/>
              </a:rPr>
              <a:t>https://www.rfc-editor.org/rfc/rfc3339</a:t>
            </a:r>
            <a:endParaRPr lang="en-IN" sz="1000" dirty="0">
              <a:latin typeface="Times New Roman" panose="02020603050405020304" pitchFamily="18" charset="0"/>
              <a:cs typeface="Times New Roman" panose="02020603050405020304" pitchFamily="18" charset="0"/>
            </a:endParaRPr>
          </a:p>
          <a:p>
            <a:pPr algn="just"/>
            <a:r>
              <a:rPr lang="en-IN" sz="1000" b="1" dirty="0">
                <a:latin typeface="Times New Roman" panose="02020603050405020304" pitchFamily="18" charset="0"/>
                <a:cs typeface="Times New Roman" panose="02020603050405020304" pitchFamily="18" charset="0"/>
              </a:rPr>
              <a:t>[5] National Institute of Standards and Technology, “Secure Hash Standard (SHS),” FIPS PUB 180-4, 2015. </a:t>
            </a:r>
            <a:r>
              <a:rPr lang="en-IN" sz="1000" b="1" u="sng" dirty="0">
                <a:latin typeface="Times New Roman" panose="02020603050405020304" pitchFamily="18" charset="0"/>
                <a:cs typeface="Times New Roman" panose="02020603050405020304" pitchFamily="18" charset="0"/>
                <a:hlinkClick r:id="rId7"/>
              </a:rPr>
              <a:t>https://csrc.nist.gov/pubs/fips/180-4/upd1/final</a:t>
            </a:r>
            <a:endParaRPr lang="en-IN" sz="1000" dirty="0">
              <a:latin typeface="Times New Roman" panose="02020603050405020304" pitchFamily="18" charset="0"/>
              <a:cs typeface="Times New Roman" panose="02020603050405020304" pitchFamily="18" charset="0"/>
            </a:endParaRPr>
          </a:p>
          <a:p>
            <a:pPr marL="310515" algn="just">
              <a:spcBef>
                <a:spcPts val="35"/>
              </a:spcBef>
            </a:pPr>
            <a:endParaRPr lang="en-IN" spc="-25" dirty="0">
              <a:latin typeface="Times New Roman" panose="02020603050405020304" pitchFamily="18" charset="0"/>
              <a:cs typeface="Times New Roman" panose="02020603050405020304" pitchFamily="18" charset="0"/>
            </a:endParaRPr>
          </a:p>
          <a:p>
            <a:pPr marL="310515" algn="just">
              <a:spcBef>
                <a:spcPts val="35"/>
              </a:spcBef>
            </a:pPr>
            <a:endParaRPr lang="en-IN" spc="-25" dirty="0"/>
          </a:p>
          <a:p>
            <a:pPr marL="310515" algn="just">
              <a:spcBef>
                <a:spcPts val="35"/>
              </a:spcBef>
            </a:pPr>
            <a:endParaRPr lang="en-IN" spc="-25" dirty="0"/>
          </a:p>
          <a:p>
            <a:pPr marL="310515" algn="just">
              <a:spcBef>
                <a:spcPts val="35"/>
              </a:spcBef>
            </a:pPr>
            <a:endParaRPr spc="-25" dirty="0"/>
          </a:p>
        </p:txBody>
      </p:sp>
      <p:sp>
        <p:nvSpPr>
          <p:cNvPr id="5" name="object 5"/>
          <p:cNvSpPr txBox="1"/>
          <p:nvPr/>
        </p:nvSpPr>
        <p:spPr>
          <a:xfrm>
            <a:off x="292100" y="3050784"/>
            <a:ext cx="1905000" cy="308802"/>
          </a:xfrm>
          <a:prstGeom prst="rect">
            <a:avLst/>
          </a:prstGeom>
        </p:spPr>
        <p:txBody>
          <a:bodyPr vert="horz" wrap="square" lIns="0" tIns="0" rIns="0" bIns="0" rtlCol="0">
            <a:spAutoFit/>
          </a:bodyPr>
          <a:lstStyle/>
          <a:p>
            <a:pPr marL="12700">
              <a:lnSpc>
                <a:spcPts val="1315"/>
              </a:lnSpc>
            </a:pPr>
            <a:r>
              <a:rPr lang="en-US" sz="600" spc="-60" dirty="0">
                <a:solidFill>
                  <a:srgbClr val="0000DC"/>
                </a:solidFill>
                <a:latin typeface="Century Gothic"/>
                <a:cs typeface="Times New Roman" panose="02020603050405020304" pitchFamily="18" charset="0"/>
              </a:rPr>
              <a:t>Utkarsh Narwade</a:t>
            </a:r>
            <a:r>
              <a:rPr lang="en-US" sz="600" spc="10" dirty="0">
                <a:solidFill>
                  <a:srgbClr val="0000DC"/>
                </a:solidFill>
                <a:latin typeface="Century Gothic"/>
                <a:cs typeface="Times New Roman" panose="02020603050405020304" pitchFamily="18" charset="0"/>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b="1" dirty="0">
                <a:solidFill>
                  <a:srgbClr val="0000DC"/>
                </a:solidFill>
                <a:latin typeface="Century Gothic"/>
                <a:cs typeface="Century Gothic"/>
              </a:rPr>
              <a:t>A3-</a:t>
            </a:r>
            <a:r>
              <a:rPr lang="en-US" sz="600" b="1" spc="-10" dirty="0">
                <a:solidFill>
                  <a:srgbClr val="0000DC"/>
                </a:solidFill>
                <a:latin typeface="Century Gothic"/>
                <a:cs typeface="Century Gothic"/>
              </a:rPr>
              <a:t>PS013-</a:t>
            </a:r>
            <a:r>
              <a:rPr lang="en-US" sz="600" b="1" dirty="0">
                <a:solidFill>
                  <a:srgbClr val="0000DC"/>
                </a:solidFill>
                <a:latin typeface="Century Gothic"/>
                <a:cs typeface="Century Gothic"/>
              </a:rPr>
              <a:t>TC123</a:t>
            </a:r>
            <a:r>
              <a:rPr lang="en-US" sz="600" b="1" spc="10" dirty="0">
                <a:solidFill>
                  <a:srgbClr val="0000DC"/>
                </a:solidFill>
                <a:latin typeface="Century Gothic"/>
                <a:cs typeface="Century Gothic"/>
              </a:rPr>
              <a:t> </a:t>
            </a:r>
            <a:r>
              <a:rPr lang="en-US" sz="2100" i="1" baseline="-7936" dirty="0">
                <a:solidFill>
                  <a:srgbClr val="0000DC"/>
                </a:solidFill>
                <a:latin typeface="Arial Narrow"/>
                <a:cs typeface="Arial Narrow"/>
              </a:rPr>
              <a:t>·</a:t>
            </a:r>
            <a:r>
              <a:rPr lang="en-US" sz="2100" i="1" spc="-202" baseline="-7936" dirty="0">
                <a:solidFill>
                  <a:srgbClr val="0000DC"/>
                </a:solidFill>
                <a:latin typeface="Arial Narrow"/>
                <a:cs typeface="Arial Narrow"/>
              </a:rPr>
              <a:t> </a:t>
            </a:r>
            <a:r>
              <a:rPr lang="en-US" sz="600" spc="-20" dirty="0">
                <a:solidFill>
                  <a:srgbClr val="0000DC"/>
                </a:solidFill>
                <a:latin typeface="Century Gothic"/>
                <a:cs typeface="Century Gothic"/>
              </a:rPr>
              <a:t>October</a:t>
            </a:r>
            <a:r>
              <a:rPr lang="en-US" sz="600" spc="10" dirty="0">
                <a:solidFill>
                  <a:srgbClr val="0000DC"/>
                </a:solidFill>
                <a:latin typeface="Century Gothic"/>
                <a:cs typeface="Century Gothic"/>
              </a:rPr>
              <a:t> </a:t>
            </a:r>
            <a:r>
              <a:rPr lang="en-US" sz="600" dirty="0">
                <a:solidFill>
                  <a:srgbClr val="0000DC"/>
                </a:solidFill>
                <a:latin typeface="Century Gothic"/>
                <a:cs typeface="Century Gothic"/>
              </a:rPr>
              <a:t>5,</a:t>
            </a:r>
            <a:r>
              <a:rPr lang="en-US" sz="600" spc="10" dirty="0">
                <a:solidFill>
                  <a:srgbClr val="0000DC"/>
                </a:solidFill>
                <a:latin typeface="Century Gothic"/>
                <a:cs typeface="Century Gothic"/>
              </a:rPr>
              <a:t> </a:t>
            </a:r>
            <a:r>
              <a:rPr lang="en-US" sz="600" spc="-20" dirty="0">
                <a:solidFill>
                  <a:srgbClr val="0000DC"/>
                </a:solidFill>
                <a:latin typeface="Century Gothic"/>
                <a:cs typeface="Century Gothic"/>
              </a:rPr>
              <a:t>2026</a:t>
            </a:r>
            <a:endParaRPr lang="en-US" sz="600" dirty="0">
              <a:latin typeface="Century Gothic"/>
              <a:cs typeface="Century Gothic"/>
            </a:endParaRPr>
          </a:p>
          <a:p>
            <a:pPr marL="12700">
              <a:lnSpc>
                <a:spcPts val="1315"/>
              </a:lnSpc>
            </a:pPr>
            <a:endParaRPr sz="600" dirty="0">
              <a:latin typeface="Century Gothic"/>
              <a:cs typeface="Century Gothic"/>
            </a:endParaRPr>
          </a:p>
        </p:txBody>
      </p:sp>
      <p:sp>
        <p:nvSpPr>
          <p:cNvPr id="6" name="object 6"/>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10</a:t>
            </a:fld>
            <a:r>
              <a:rPr spc="5" dirty="0"/>
              <a:t> </a:t>
            </a:r>
            <a:r>
              <a:rPr dirty="0"/>
              <a:t>/</a:t>
            </a:r>
            <a:r>
              <a:rPr spc="10" dirty="0"/>
              <a:t> </a:t>
            </a:r>
            <a:r>
              <a:rPr spc="-25" dirty="0"/>
              <a:t>11</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94535" y="1088871"/>
            <a:ext cx="1771014" cy="191770"/>
          </a:xfrm>
          <a:prstGeom prst="rect">
            <a:avLst/>
          </a:prstGeom>
        </p:spPr>
        <p:txBody>
          <a:bodyPr vert="horz" wrap="square" lIns="0" tIns="11430" rIns="0" bIns="0" rtlCol="0">
            <a:spAutoFit/>
          </a:bodyPr>
          <a:lstStyle/>
          <a:p>
            <a:pPr marL="12700">
              <a:lnSpc>
                <a:spcPct val="100000"/>
              </a:lnSpc>
              <a:spcBef>
                <a:spcPts val="90"/>
              </a:spcBef>
            </a:pPr>
            <a:r>
              <a:rPr sz="1100" spc="-60" dirty="0">
                <a:latin typeface="Century Gothic"/>
                <a:cs typeface="Century Gothic"/>
              </a:rPr>
              <a:t>Thank</a:t>
            </a:r>
            <a:r>
              <a:rPr sz="1100" dirty="0">
                <a:latin typeface="Century Gothic"/>
                <a:cs typeface="Century Gothic"/>
              </a:rPr>
              <a:t> </a:t>
            </a:r>
            <a:r>
              <a:rPr sz="1100" spc="-130" dirty="0">
                <a:latin typeface="Century Gothic"/>
                <a:cs typeface="Century Gothic"/>
              </a:rPr>
              <a:t>You</a:t>
            </a:r>
            <a:r>
              <a:rPr sz="1100" dirty="0">
                <a:latin typeface="Century Gothic"/>
                <a:cs typeface="Century Gothic"/>
              </a:rPr>
              <a:t> </a:t>
            </a:r>
            <a:r>
              <a:rPr sz="1100" spc="-35" dirty="0">
                <a:latin typeface="Century Gothic"/>
                <a:cs typeface="Century Gothic"/>
              </a:rPr>
              <a:t>for</a:t>
            </a:r>
            <a:r>
              <a:rPr sz="1100" spc="5" dirty="0">
                <a:latin typeface="Century Gothic"/>
                <a:cs typeface="Century Gothic"/>
              </a:rPr>
              <a:t> </a:t>
            </a:r>
            <a:r>
              <a:rPr sz="1100" spc="-85" dirty="0">
                <a:latin typeface="Century Gothic"/>
                <a:cs typeface="Century Gothic"/>
              </a:rPr>
              <a:t>Your</a:t>
            </a:r>
            <a:r>
              <a:rPr sz="1100" dirty="0">
                <a:latin typeface="Century Gothic"/>
                <a:cs typeface="Century Gothic"/>
              </a:rPr>
              <a:t> </a:t>
            </a:r>
            <a:r>
              <a:rPr sz="1100" spc="-55" dirty="0">
                <a:latin typeface="Century Gothic"/>
                <a:cs typeface="Century Gothic"/>
              </a:rPr>
              <a:t>Attention!</a:t>
            </a:r>
            <a:endParaRPr sz="1100">
              <a:latin typeface="Century Gothic"/>
              <a:cs typeface="Century Gothic"/>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72</TotalTime>
  <Words>830</Words>
  <Application>Microsoft Office PowerPoint</Application>
  <PresentationFormat>Custom</PresentationFormat>
  <Paragraphs>83</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Arial Narrow</vt:lpstr>
      <vt:lpstr>Century Gothic</vt:lpstr>
      <vt:lpstr>Times New Roman</vt:lpstr>
      <vt:lpstr>Wingdings</vt:lpstr>
      <vt:lpstr>Office Theme</vt:lpstr>
      <vt:lpstr>A3-PS013-TC123 Incident Timeline and Evidence Collection for Small Teams</vt:lpstr>
      <vt:lpstr>PowerPoint Presentation</vt:lpstr>
      <vt:lpstr>PowerPoint Presentation</vt:lpstr>
      <vt:lpstr>PowerPoint Presentation</vt:lpstr>
      <vt:lpstr>PowerPoint Presentation</vt:lpstr>
      <vt:lpstr>PowerPoint Presentation</vt:lpstr>
      <vt:lpstr>PowerPoint Presentation</vt:lpstr>
      <vt:lpstr>Data Flow Diagram</vt:lpstr>
      <vt:lpstr>PowerPoint Presentation</vt:lpstr>
      <vt:lpstr>Bibliography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A3-PS001-TC001 - Android Ransomware-like Activity Early Warning in a Controlled Lab</dc:title>
  <dc:subject>Presentation Subject</dc:subject>
  <dc:creator>John Doe, personal-id@some.mail.com</dc:creator>
  <cp:keywords>the, presentation, keywords</cp:keywords>
  <cp:lastModifiedBy>UTKARSH NARWADE</cp:lastModifiedBy>
  <cp:revision>2</cp:revision>
  <dcterms:created xsi:type="dcterms:W3CDTF">2026-10-11T19:32:08Z</dcterms:created>
  <dcterms:modified xsi:type="dcterms:W3CDTF">2026-10-14T18:29:22Z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2026-10-05T00:00:00Z</vt:filetime>
  </property>
  <property fmtid="{D5CDD505-2E9C-101B-9397-08002B2CF9AE}" pid="4" name="Creator">
    <vt:lpwstr>LaTeX with Beamer class</vt:lpwstr>
  </property>
  <property fmtid="{D5CDD505-2E9C-101B-9397-08002B2CF9AE}" pid="5" name="LastSaved">
    <vt:filetime>2026-10-11T00:00:00Z</vt:filetime>
  </property>
  <property fmtid="{D5CDD505-2E9C-101B-9397-08002B2CF9AE}" pid="6" name="PTEX.Fullbanner">
    <vt:lpwstr>This is pdfTeX, Version 3.141592653-2.6-1.40.29 (TeX Live 2026) kpathsea version 6.4.2</vt:lpwstr>
  </property>
  <property fmtid="{D5CDD505-2E9C-101B-9397-08002B2CF9AE}" pid="7" name="Producer">
    <vt:lpwstr>pdfTeX-1.40.29</vt:lpwstr>
  </property>
</Properties>
</file>